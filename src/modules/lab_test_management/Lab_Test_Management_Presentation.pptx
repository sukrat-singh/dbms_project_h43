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Oval 1"/>
          <p:cNvSpPr/>
          <p:nvPr/>
        </p:nvSpPr>
        <p:spPr>
          <a:xfrm>
            <a:off x="7498079" y="274320"/>
            <a:ext cx="1645920" cy="1645920"/>
          </a:xfrm>
          <a:prstGeom prst="ellipse">
            <a:avLst/>
          </a:prstGeom>
          <a:solidFill>
            <a:srgbClr val="7B68EE">
              <a:lumMod val="40000"/>
              <a:lumOff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046720" y="1371600"/>
            <a:ext cx="914400" cy="914400"/>
          </a:xfrm>
          <a:prstGeom prst="ellipse">
            <a:avLst/>
          </a:prstGeom>
          <a:solidFill>
            <a:srgbClr val="0096D6">
              <a:lumMod val="40000"/>
              <a:lumOff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82880" y="5029200"/>
            <a:ext cx="1371600" cy="1371600"/>
          </a:xfrm>
          <a:prstGeom prst="ellipse">
            <a:avLst/>
          </a:prstGeom>
          <a:solidFill>
            <a:srgbClr val="00C9A7">
              <a:lumMod val="40000"/>
              <a:lumOff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097280" y="5669280"/>
            <a:ext cx="731520" cy="731520"/>
          </a:xfrm>
          <a:prstGeom prst="ellipse">
            <a:avLst/>
          </a:prstGeom>
          <a:solidFill>
            <a:srgbClr val="0096D6">
              <a:lumMod val="40000"/>
              <a:lumOff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371600"/>
            <a:ext cx="7315200" cy="914400"/>
          </a:xfrm>
          <a:prstGeom prst="rect">
            <a:avLst/>
          </a:prstGeom>
          <a:noFill/>
        </p:spPr>
        <p:txBody>
          <a:bodyPr wrap="square">
            <a:spAutoFit/>
          </a:bodyPr>
          <a:lstStyle/>
          <a:p>
            <a:pPr algn="l">
              <a:defRPr sz="5200" b="0">
                <a:solidFill>
                  <a:srgbClr val="FFFFFF"/>
                </a:solidFill>
                <a:latin typeface="Calibri"/>
              </a:defRPr>
            </a:pPr>
            <a:r>
              <a:t>🧪</a:t>
            </a:r>
          </a:p>
        </p:txBody>
      </p:sp>
      <p:sp>
        <p:nvSpPr>
          <p:cNvPr id="7" name="TextBox 6"/>
          <p:cNvSpPr txBox="1"/>
          <p:nvPr/>
        </p:nvSpPr>
        <p:spPr>
          <a:xfrm>
            <a:off x="731520" y="2103120"/>
            <a:ext cx="7315200" cy="1097280"/>
          </a:xfrm>
          <a:prstGeom prst="rect">
            <a:avLst/>
          </a:prstGeom>
          <a:noFill/>
        </p:spPr>
        <p:txBody>
          <a:bodyPr wrap="square">
            <a:spAutoFit/>
          </a:bodyPr>
          <a:lstStyle/>
          <a:p>
            <a:pPr algn="l">
              <a:defRPr sz="4000" b="1">
                <a:solidFill>
                  <a:srgbClr val="FFFFFF"/>
                </a:solidFill>
                <a:latin typeface="Calibri"/>
              </a:defRPr>
            </a:pPr>
            <a:r>
              <a:t>Lab Test Management System</a:t>
            </a:r>
          </a:p>
        </p:txBody>
      </p:sp>
      <p:sp>
        <p:nvSpPr>
          <p:cNvPr id="8" name="TextBox 7"/>
          <p:cNvSpPr txBox="1"/>
          <p:nvPr/>
        </p:nvSpPr>
        <p:spPr>
          <a:xfrm>
            <a:off x="731520" y="3108960"/>
            <a:ext cx="7315200" cy="548640"/>
          </a:xfrm>
          <a:prstGeom prst="rect">
            <a:avLst/>
          </a:prstGeom>
          <a:noFill/>
        </p:spPr>
        <p:txBody>
          <a:bodyPr wrap="square">
            <a:spAutoFit/>
          </a:bodyPr>
          <a:lstStyle/>
          <a:p>
            <a:pPr algn="l">
              <a:defRPr sz="2200" b="0">
                <a:solidFill>
                  <a:srgbClr val="0096D6"/>
                </a:solidFill>
                <a:latin typeface="Calibri"/>
              </a:defRPr>
            </a:pPr>
            <a:r>
              <a:t>A MongoDB-Based DBMS Project</a:t>
            </a:r>
          </a:p>
        </p:txBody>
      </p:sp>
      <p:sp>
        <p:nvSpPr>
          <p:cNvPr id="9" name="TextBox 8"/>
          <p:cNvSpPr txBox="1"/>
          <p:nvPr/>
        </p:nvSpPr>
        <p:spPr>
          <a:xfrm>
            <a:off x="731520" y="4572000"/>
            <a:ext cx="7315200" cy="457200"/>
          </a:xfrm>
          <a:prstGeom prst="rect">
            <a:avLst/>
          </a:prstGeom>
          <a:noFill/>
        </p:spPr>
        <p:txBody>
          <a:bodyPr wrap="square">
            <a:spAutoFit/>
          </a:bodyPr>
          <a:lstStyle/>
          <a:p>
            <a:pPr algn="l">
              <a:defRPr sz="1400" b="0">
                <a:solidFill>
                  <a:srgbClr val="CCCCCC"/>
                </a:solidFill>
                <a:latin typeface="Calibri"/>
              </a:defRPr>
            </a:pPr>
            <a:r>
              <a:t>Course: Database Management Systems   |   Group: H43</a:t>
            </a:r>
          </a:p>
        </p:txBody>
      </p:sp>
      <p:sp>
        <p:nvSpPr>
          <p:cNvPr id="10" name="TextBox 9"/>
          <p:cNvSpPr txBox="1"/>
          <p:nvPr/>
        </p:nvSpPr>
        <p:spPr>
          <a:xfrm>
            <a:off x="731520" y="5029200"/>
            <a:ext cx="7315200" cy="457200"/>
          </a:xfrm>
          <a:prstGeom prst="rect">
            <a:avLst/>
          </a:prstGeom>
          <a:noFill/>
        </p:spPr>
        <p:txBody>
          <a:bodyPr wrap="square">
            <a:spAutoFit/>
          </a:bodyPr>
          <a:lstStyle/>
          <a:p>
            <a:pPr algn="l">
              <a:defRPr sz="1400" b="0">
                <a:solidFill>
                  <a:srgbClr val="CCCCCC"/>
                </a:solidFill>
                <a:latin typeface="Calibri"/>
              </a:defRPr>
            </a:pPr>
            <a:r>
              <a:t>Technologies: Python  •  MongoDB Atlas  •  Streamlit</a:t>
            </a:r>
          </a:p>
        </p:txBody>
      </p:sp>
      <p:sp>
        <p:nvSpPr>
          <p:cNvPr id="11" name="TextBox 10"/>
          <p:cNvSpPr txBox="1"/>
          <p:nvPr/>
        </p:nvSpPr>
        <p:spPr>
          <a:xfrm>
            <a:off x="7772400" y="6400800"/>
            <a:ext cx="1097280" cy="365760"/>
          </a:xfrm>
          <a:prstGeom prst="rect">
            <a:avLst/>
          </a:prstGeom>
          <a:noFill/>
        </p:spPr>
        <p:txBody>
          <a:bodyPr wrap="square">
            <a:spAutoFit/>
          </a:bodyPr>
          <a:lstStyle/>
          <a:p>
            <a:pPr algn="r">
              <a:defRPr sz="1000" b="0">
                <a:solidFill>
                  <a:srgbClr val="CCCCCC"/>
                </a:solidFill>
                <a:latin typeface="Calibri"/>
              </a:defRPr>
            </a:pPr>
            <a:r>
              <a:t>1 / 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731520" y="457200"/>
            <a:ext cx="7315200" cy="731520"/>
          </a:xfrm>
          <a:prstGeom prst="rect">
            <a:avLst/>
          </a:prstGeom>
          <a:noFill/>
        </p:spPr>
        <p:txBody>
          <a:bodyPr wrap="square">
            <a:spAutoFit/>
          </a:bodyPr>
          <a:lstStyle/>
          <a:p>
            <a:pPr algn="l">
              <a:defRPr sz="3200" b="1">
                <a:solidFill>
                  <a:srgbClr val="0096D6"/>
                </a:solidFill>
                <a:latin typeface="Calibri"/>
              </a:defRPr>
            </a:pPr>
            <a:r>
              <a:t>Problem Statement &amp; Introduction</a:t>
            </a:r>
          </a:p>
        </p:txBody>
      </p:sp>
      <p:sp>
        <p:nvSpPr>
          <p:cNvPr id="3" name="Rectangle 2"/>
          <p:cNvSpPr/>
          <p:nvPr/>
        </p:nvSpPr>
        <p:spPr>
          <a:xfrm>
            <a:off x="731520" y="1097280"/>
            <a:ext cx="1828800" cy="50800"/>
          </a:xfrm>
          <a:prstGeom prst="rect">
            <a:avLst/>
          </a:prstGeom>
          <a:solidFill>
            <a:srgbClr val="0096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0"/>
            <a:ext cx="7498079" cy="1097280"/>
          </a:xfrm>
          <a:prstGeom prst="rect">
            <a:avLst/>
          </a:prstGeom>
          <a:noFill/>
        </p:spPr>
        <p:txBody>
          <a:bodyPr wrap="square">
            <a:spAutoFit/>
          </a:bodyPr>
          <a:lstStyle/>
          <a:p>
            <a:pPr algn="l">
              <a:defRPr sz="1500" b="0">
                <a:solidFill>
                  <a:srgbClr val="CCCCCC"/>
                </a:solidFill>
                <a:latin typeface="Calibri"/>
              </a:defRPr>
            </a:pPr>
            <a:r>
              <a:t>Hospitals and diagnostic labs handle thousands of lab tests daily. Managing patient records, test catalogs, orders, results, and alerts manually or with legacy systems leads to errors, delays, and missed critical results. Our system digitizes this entire workflow.</a:t>
            </a:r>
          </a:p>
        </p:txBody>
      </p:sp>
      <p:sp>
        <p:nvSpPr>
          <p:cNvPr id="5" name="Rounded Rectangle 4"/>
          <p:cNvSpPr/>
          <p:nvPr/>
        </p:nvSpPr>
        <p:spPr>
          <a:xfrm>
            <a:off x="731520" y="2926080"/>
            <a:ext cx="1828800" cy="2286000"/>
          </a:xfrm>
          <a:prstGeom prst="roundRect">
            <a:avLst/>
          </a:prstGeom>
          <a:solidFill>
            <a:srgbClr val="25253A"/>
          </a:solidFill>
          <a:ln w="19050">
            <a:solidFill>
              <a:srgbClr val="0096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3108960"/>
            <a:ext cx="1554480" cy="914400"/>
          </a:xfrm>
          <a:prstGeom prst="rect">
            <a:avLst/>
          </a:prstGeom>
          <a:noFill/>
        </p:spPr>
        <p:txBody>
          <a:bodyPr wrap="square">
            <a:spAutoFit/>
          </a:bodyPr>
          <a:lstStyle/>
          <a:p>
            <a:pPr algn="ctr">
              <a:defRPr sz="1500" b="1">
                <a:solidFill>
                  <a:srgbClr val="0096D6"/>
                </a:solidFill>
                <a:latin typeface="Calibri"/>
              </a:defRPr>
            </a:pPr>
            <a:r>
              <a:t>👤 Patient</a:t>
            </a:r>
            <a:br/>
            <a:r>
              <a:t>Management</a:t>
            </a:r>
          </a:p>
        </p:txBody>
      </p:sp>
      <p:sp>
        <p:nvSpPr>
          <p:cNvPr id="7" name="TextBox 6"/>
          <p:cNvSpPr txBox="1"/>
          <p:nvPr/>
        </p:nvSpPr>
        <p:spPr>
          <a:xfrm>
            <a:off x="868680" y="4023360"/>
            <a:ext cx="1554480" cy="914400"/>
          </a:xfrm>
          <a:prstGeom prst="rect">
            <a:avLst/>
          </a:prstGeom>
          <a:noFill/>
        </p:spPr>
        <p:txBody>
          <a:bodyPr wrap="square">
            <a:spAutoFit/>
          </a:bodyPr>
          <a:lstStyle/>
          <a:p>
            <a:pPr algn="ctr">
              <a:defRPr sz="1200" b="0">
                <a:solidFill>
                  <a:srgbClr val="CCCCCC"/>
                </a:solidFill>
                <a:latin typeface="Calibri"/>
              </a:defRPr>
            </a:pPr>
            <a:r>
              <a:t>Register, search,</a:t>
            </a:r>
            <a:br/>
            <a:r>
              <a:t>and manage patients</a:t>
            </a:r>
          </a:p>
        </p:txBody>
      </p:sp>
      <p:sp>
        <p:nvSpPr>
          <p:cNvPr id="8" name="Rounded Rectangle 7"/>
          <p:cNvSpPr/>
          <p:nvPr/>
        </p:nvSpPr>
        <p:spPr>
          <a:xfrm>
            <a:off x="2788920" y="2926080"/>
            <a:ext cx="1828800" cy="2286000"/>
          </a:xfrm>
          <a:prstGeom prst="roundRect">
            <a:avLst/>
          </a:prstGeom>
          <a:solidFill>
            <a:srgbClr val="25253A"/>
          </a:solidFill>
          <a:ln w="19050">
            <a:solidFill>
              <a:srgbClr val="00C9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926080" y="3108960"/>
            <a:ext cx="1554480" cy="914400"/>
          </a:xfrm>
          <a:prstGeom prst="rect">
            <a:avLst/>
          </a:prstGeom>
          <a:noFill/>
        </p:spPr>
        <p:txBody>
          <a:bodyPr wrap="square">
            <a:spAutoFit/>
          </a:bodyPr>
          <a:lstStyle/>
          <a:p>
            <a:pPr algn="ctr">
              <a:defRPr sz="1500" b="1">
                <a:solidFill>
                  <a:srgbClr val="00C9A7"/>
                </a:solidFill>
                <a:latin typeface="Calibri"/>
              </a:defRPr>
            </a:pPr>
            <a:r>
              <a:t>🔬 Test</a:t>
            </a:r>
            <a:br/>
            <a:r>
              <a:t>Catalog</a:t>
            </a:r>
          </a:p>
        </p:txBody>
      </p:sp>
      <p:sp>
        <p:nvSpPr>
          <p:cNvPr id="10" name="TextBox 9"/>
          <p:cNvSpPr txBox="1"/>
          <p:nvPr/>
        </p:nvSpPr>
        <p:spPr>
          <a:xfrm>
            <a:off x="2926080" y="4023360"/>
            <a:ext cx="1554480" cy="914400"/>
          </a:xfrm>
          <a:prstGeom prst="rect">
            <a:avLst/>
          </a:prstGeom>
          <a:noFill/>
        </p:spPr>
        <p:txBody>
          <a:bodyPr wrap="square">
            <a:spAutoFit/>
          </a:bodyPr>
          <a:lstStyle/>
          <a:p>
            <a:pPr algn="ctr">
              <a:defRPr sz="1200" b="0">
                <a:solidFill>
                  <a:srgbClr val="CCCCCC"/>
                </a:solidFill>
                <a:latin typeface="Calibri"/>
              </a:defRPr>
            </a:pPr>
            <a:r>
              <a:t>Define tests with</a:t>
            </a:r>
            <a:br/>
            <a:r>
              <a:t>normal ranges &amp; costs</a:t>
            </a:r>
          </a:p>
        </p:txBody>
      </p:sp>
      <p:sp>
        <p:nvSpPr>
          <p:cNvPr id="11" name="Rounded Rectangle 10"/>
          <p:cNvSpPr/>
          <p:nvPr/>
        </p:nvSpPr>
        <p:spPr>
          <a:xfrm>
            <a:off x="4846320" y="2926080"/>
            <a:ext cx="1828800" cy="2286000"/>
          </a:xfrm>
          <a:prstGeom prst="roundRect">
            <a:avLst/>
          </a:prstGeom>
          <a:solidFill>
            <a:srgbClr val="25253A"/>
          </a:solidFill>
          <a:ln w="19050">
            <a:solidFill>
              <a:srgbClr val="FF8C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983480" y="3108960"/>
            <a:ext cx="1554480" cy="914400"/>
          </a:xfrm>
          <a:prstGeom prst="rect">
            <a:avLst/>
          </a:prstGeom>
          <a:noFill/>
        </p:spPr>
        <p:txBody>
          <a:bodyPr wrap="square">
            <a:spAutoFit/>
          </a:bodyPr>
          <a:lstStyle/>
          <a:p>
            <a:pPr algn="ctr">
              <a:defRPr sz="1500" b="1">
                <a:solidFill>
                  <a:srgbClr val="FF8C42"/>
                </a:solidFill>
                <a:latin typeface="Calibri"/>
              </a:defRPr>
            </a:pPr>
            <a:r>
              <a:t>📋 Order</a:t>
            </a:r>
            <a:br/>
            <a:r>
              <a:t>Tracking</a:t>
            </a:r>
          </a:p>
        </p:txBody>
      </p:sp>
      <p:sp>
        <p:nvSpPr>
          <p:cNvPr id="13" name="TextBox 12"/>
          <p:cNvSpPr txBox="1"/>
          <p:nvPr/>
        </p:nvSpPr>
        <p:spPr>
          <a:xfrm>
            <a:off x="4983480" y="4023360"/>
            <a:ext cx="1554480" cy="914400"/>
          </a:xfrm>
          <a:prstGeom prst="rect">
            <a:avLst/>
          </a:prstGeom>
          <a:noFill/>
        </p:spPr>
        <p:txBody>
          <a:bodyPr wrap="square">
            <a:spAutoFit/>
          </a:bodyPr>
          <a:lstStyle/>
          <a:p>
            <a:pPr algn="ctr">
              <a:defRPr sz="1200" b="0">
                <a:solidFill>
                  <a:srgbClr val="CCCCCC"/>
                </a:solidFill>
                <a:latin typeface="Calibri"/>
              </a:defRPr>
            </a:pPr>
            <a:r>
              <a:t>Place orders, track</a:t>
            </a:r>
            <a:br/>
            <a:r>
              <a:t>status in real-time</a:t>
            </a:r>
          </a:p>
        </p:txBody>
      </p:sp>
      <p:sp>
        <p:nvSpPr>
          <p:cNvPr id="14" name="Rounded Rectangle 13"/>
          <p:cNvSpPr/>
          <p:nvPr/>
        </p:nvSpPr>
        <p:spPr>
          <a:xfrm>
            <a:off x="6903720" y="2926080"/>
            <a:ext cx="1828800" cy="2286000"/>
          </a:xfrm>
          <a:prstGeom prst="roundRect">
            <a:avLst/>
          </a:prstGeom>
          <a:solidFill>
            <a:srgbClr val="25253A"/>
          </a:solidFill>
          <a:ln w="19050">
            <a:solidFill>
              <a:srgbClr val="7B6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040880" y="3108960"/>
            <a:ext cx="1554480" cy="914400"/>
          </a:xfrm>
          <a:prstGeom prst="rect">
            <a:avLst/>
          </a:prstGeom>
          <a:noFill/>
        </p:spPr>
        <p:txBody>
          <a:bodyPr wrap="square">
            <a:spAutoFit/>
          </a:bodyPr>
          <a:lstStyle/>
          <a:p>
            <a:pPr algn="ctr">
              <a:defRPr sz="1500" b="1">
                <a:solidFill>
                  <a:srgbClr val="7B68EE"/>
                </a:solidFill>
                <a:latin typeface="Calibri"/>
              </a:defRPr>
            </a:pPr>
            <a:r>
              <a:t>🔔 Smart</a:t>
            </a:r>
            <a:br/>
            <a:r>
              <a:t>Alerts</a:t>
            </a:r>
          </a:p>
        </p:txBody>
      </p:sp>
      <p:sp>
        <p:nvSpPr>
          <p:cNvPr id="16" name="TextBox 15"/>
          <p:cNvSpPr txBox="1"/>
          <p:nvPr/>
        </p:nvSpPr>
        <p:spPr>
          <a:xfrm>
            <a:off x="7040880" y="4023360"/>
            <a:ext cx="1554480" cy="914400"/>
          </a:xfrm>
          <a:prstGeom prst="rect">
            <a:avLst/>
          </a:prstGeom>
          <a:noFill/>
        </p:spPr>
        <p:txBody>
          <a:bodyPr wrap="square">
            <a:spAutoFit/>
          </a:bodyPr>
          <a:lstStyle/>
          <a:p>
            <a:pPr algn="ctr">
              <a:defRPr sz="1200" b="0">
                <a:solidFill>
                  <a:srgbClr val="CCCCCC"/>
                </a:solidFill>
                <a:latin typeface="Calibri"/>
              </a:defRPr>
            </a:pPr>
            <a:r>
              <a:t>Auto-alerts on critical</a:t>
            </a:r>
            <a:br/>
            <a:r>
              <a:t>or delayed results</a:t>
            </a:r>
          </a:p>
        </p:txBody>
      </p:sp>
      <p:sp>
        <p:nvSpPr>
          <p:cNvPr id="17" name="TextBox 16"/>
          <p:cNvSpPr txBox="1"/>
          <p:nvPr/>
        </p:nvSpPr>
        <p:spPr>
          <a:xfrm>
            <a:off x="731520" y="5669280"/>
            <a:ext cx="7315200" cy="457200"/>
          </a:xfrm>
          <a:prstGeom prst="rect">
            <a:avLst/>
          </a:prstGeom>
          <a:noFill/>
        </p:spPr>
        <p:txBody>
          <a:bodyPr wrap="square">
            <a:spAutoFit/>
          </a:bodyPr>
          <a:lstStyle/>
          <a:p>
            <a:pPr algn="l">
              <a:defRPr sz="1300" b="0">
                <a:solidFill>
                  <a:srgbClr val="00C9A7"/>
                </a:solidFill>
                <a:latin typeface="Calibri"/>
              </a:defRPr>
            </a:pPr>
            <a:r>
              <a:t>📊 Plus: Revenue analytics, turnaround monitoring, and a Streamlit dashboard</a:t>
            </a:r>
          </a:p>
        </p:txBody>
      </p:sp>
      <p:sp>
        <p:nvSpPr>
          <p:cNvPr id="18" name="TextBox 17"/>
          <p:cNvSpPr txBox="1"/>
          <p:nvPr/>
        </p:nvSpPr>
        <p:spPr>
          <a:xfrm>
            <a:off x="7772400" y="6400800"/>
            <a:ext cx="1097280" cy="365760"/>
          </a:xfrm>
          <a:prstGeom prst="rect">
            <a:avLst/>
          </a:prstGeom>
          <a:noFill/>
        </p:spPr>
        <p:txBody>
          <a:bodyPr wrap="square">
            <a:spAutoFit/>
          </a:bodyPr>
          <a:lstStyle/>
          <a:p>
            <a:pPr algn="r">
              <a:defRPr sz="1000" b="0">
                <a:solidFill>
                  <a:srgbClr val="CCCCCC"/>
                </a:solidFill>
                <a:latin typeface="Calibri"/>
              </a:defRPr>
            </a:pPr>
            <a:r>
              <a:t>2 / 10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731520" y="457200"/>
            <a:ext cx="7315200" cy="731520"/>
          </a:xfrm>
          <a:prstGeom prst="rect">
            <a:avLst/>
          </a:prstGeom>
          <a:noFill/>
        </p:spPr>
        <p:txBody>
          <a:bodyPr wrap="square">
            <a:spAutoFit/>
          </a:bodyPr>
          <a:lstStyle/>
          <a:p>
            <a:pPr algn="l">
              <a:defRPr sz="3200" b="1">
                <a:solidFill>
                  <a:srgbClr val="00C9A7"/>
                </a:solidFill>
                <a:latin typeface="Calibri"/>
              </a:defRPr>
            </a:pPr>
            <a:r>
              <a:t>Technology Stack</a:t>
            </a:r>
          </a:p>
        </p:txBody>
      </p:sp>
      <p:sp>
        <p:nvSpPr>
          <p:cNvPr id="3" name="Rectangle 2"/>
          <p:cNvSpPr/>
          <p:nvPr/>
        </p:nvSpPr>
        <p:spPr>
          <a:xfrm>
            <a:off x="731520" y="1097280"/>
            <a:ext cx="1828800" cy="50800"/>
          </a:xfrm>
          <a:prstGeom prst="rect">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463040"/>
            <a:ext cx="7498079" cy="685800"/>
          </a:xfrm>
          <a:prstGeom prst="roundRect">
            <a:avLst/>
          </a:prstGeom>
          <a:solidFill>
            <a:srgbClr val="25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08760"/>
            <a:ext cx="2286000" cy="594360"/>
          </a:xfrm>
          <a:prstGeom prst="rect">
            <a:avLst/>
          </a:prstGeom>
          <a:noFill/>
        </p:spPr>
        <p:txBody>
          <a:bodyPr wrap="square">
            <a:spAutoFit/>
          </a:bodyPr>
          <a:lstStyle/>
          <a:p>
            <a:pPr algn="l">
              <a:defRPr sz="1500" b="1">
                <a:solidFill>
                  <a:srgbClr val="00C9A7"/>
                </a:solidFill>
                <a:latin typeface="Calibri"/>
              </a:defRPr>
            </a:pPr>
            <a:r>
              <a:t>🐍  Python 3.x</a:t>
            </a:r>
          </a:p>
        </p:txBody>
      </p:sp>
      <p:sp>
        <p:nvSpPr>
          <p:cNvPr id="6" name="TextBox 5"/>
          <p:cNvSpPr txBox="1"/>
          <p:nvPr/>
        </p:nvSpPr>
        <p:spPr>
          <a:xfrm>
            <a:off x="3291840" y="1508760"/>
            <a:ext cx="4754880" cy="594360"/>
          </a:xfrm>
          <a:prstGeom prst="rect">
            <a:avLst/>
          </a:prstGeom>
          <a:noFill/>
        </p:spPr>
        <p:txBody>
          <a:bodyPr wrap="square">
            <a:spAutoFit/>
          </a:bodyPr>
          <a:lstStyle/>
          <a:p>
            <a:pPr algn="l">
              <a:defRPr sz="1200" b="0">
                <a:solidFill>
                  <a:srgbClr val="CCCCCC"/>
                </a:solidFill>
                <a:latin typeface="Calibri"/>
              </a:defRPr>
            </a:pPr>
            <a:r>
              <a:t>Core programming language for all backend logic,</a:t>
            </a:r>
            <a:br/>
            <a:r>
              <a:t>services, triggers, and stored procedures</a:t>
            </a:r>
          </a:p>
        </p:txBody>
      </p:sp>
      <p:sp>
        <p:nvSpPr>
          <p:cNvPr id="7" name="Rounded Rectangle 6"/>
          <p:cNvSpPr/>
          <p:nvPr/>
        </p:nvSpPr>
        <p:spPr>
          <a:xfrm>
            <a:off x="731520" y="2286000"/>
            <a:ext cx="7498079" cy="685800"/>
          </a:xfrm>
          <a:prstGeom prst="roundRect">
            <a:avLst/>
          </a:prstGeom>
          <a:solidFill>
            <a:srgbClr val="25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331720"/>
            <a:ext cx="2286000" cy="594360"/>
          </a:xfrm>
          <a:prstGeom prst="rect">
            <a:avLst/>
          </a:prstGeom>
          <a:noFill/>
        </p:spPr>
        <p:txBody>
          <a:bodyPr wrap="square">
            <a:spAutoFit/>
          </a:bodyPr>
          <a:lstStyle/>
          <a:p>
            <a:pPr algn="l">
              <a:defRPr sz="1500" b="1">
                <a:solidFill>
                  <a:srgbClr val="00C9A7"/>
                </a:solidFill>
                <a:latin typeface="Calibri"/>
              </a:defRPr>
            </a:pPr>
            <a:r>
              <a:t>🍃  MongoDB Atlas</a:t>
            </a:r>
          </a:p>
        </p:txBody>
      </p:sp>
      <p:sp>
        <p:nvSpPr>
          <p:cNvPr id="9" name="TextBox 8"/>
          <p:cNvSpPr txBox="1"/>
          <p:nvPr/>
        </p:nvSpPr>
        <p:spPr>
          <a:xfrm>
            <a:off x="3291840" y="2331720"/>
            <a:ext cx="4754880" cy="594360"/>
          </a:xfrm>
          <a:prstGeom prst="rect">
            <a:avLst/>
          </a:prstGeom>
          <a:noFill/>
        </p:spPr>
        <p:txBody>
          <a:bodyPr wrap="square">
            <a:spAutoFit/>
          </a:bodyPr>
          <a:lstStyle/>
          <a:p>
            <a:pPr algn="l">
              <a:defRPr sz="1200" b="0">
                <a:solidFill>
                  <a:srgbClr val="CCCCCC"/>
                </a:solidFill>
                <a:latin typeface="Calibri"/>
              </a:defRPr>
            </a:pPr>
            <a:r>
              <a:t>Cloud-hosted NoSQL database (free tier).</a:t>
            </a:r>
            <a:br/>
            <a:r>
              <a:t>Replaces traditional SQL tables with collections</a:t>
            </a:r>
          </a:p>
        </p:txBody>
      </p:sp>
      <p:sp>
        <p:nvSpPr>
          <p:cNvPr id="10" name="Rounded Rectangle 9"/>
          <p:cNvSpPr/>
          <p:nvPr/>
        </p:nvSpPr>
        <p:spPr>
          <a:xfrm>
            <a:off x="731520" y="3108960"/>
            <a:ext cx="7498079" cy="685800"/>
          </a:xfrm>
          <a:prstGeom prst="roundRect">
            <a:avLst/>
          </a:prstGeom>
          <a:solidFill>
            <a:srgbClr val="25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3154680"/>
            <a:ext cx="2286000" cy="594360"/>
          </a:xfrm>
          <a:prstGeom prst="rect">
            <a:avLst/>
          </a:prstGeom>
          <a:noFill/>
        </p:spPr>
        <p:txBody>
          <a:bodyPr wrap="square">
            <a:spAutoFit/>
          </a:bodyPr>
          <a:lstStyle/>
          <a:p>
            <a:pPr algn="l">
              <a:defRPr sz="1500" b="1">
                <a:solidFill>
                  <a:srgbClr val="00C9A7"/>
                </a:solidFill>
                <a:latin typeface="Calibri"/>
              </a:defRPr>
            </a:pPr>
            <a:r>
              <a:t>📦  PyMongo</a:t>
            </a:r>
          </a:p>
        </p:txBody>
      </p:sp>
      <p:sp>
        <p:nvSpPr>
          <p:cNvPr id="12" name="TextBox 11"/>
          <p:cNvSpPr txBox="1"/>
          <p:nvPr/>
        </p:nvSpPr>
        <p:spPr>
          <a:xfrm>
            <a:off x="3291840" y="3154680"/>
            <a:ext cx="4754880" cy="594360"/>
          </a:xfrm>
          <a:prstGeom prst="rect">
            <a:avLst/>
          </a:prstGeom>
          <a:noFill/>
        </p:spPr>
        <p:txBody>
          <a:bodyPr wrap="square">
            <a:spAutoFit/>
          </a:bodyPr>
          <a:lstStyle/>
          <a:p>
            <a:pPr algn="l">
              <a:defRPr sz="1200" b="0">
                <a:solidFill>
                  <a:srgbClr val="CCCCCC"/>
                </a:solidFill>
                <a:latin typeface="Calibri"/>
              </a:defRPr>
            </a:pPr>
            <a:r>
              <a:t>Official MongoDB driver for Python.</a:t>
            </a:r>
            <a:br/>
            <a:r>
              <a:t>Handles all CRUD and aggregation pipelines</a:t>
            </a:r>
          </a:p>
        </p:txBody>
      </p:sp>
      <p:sp>
        <p:nvSpPr>
          <p:cNvPr id="13" name="Rounded Rectangle 12"/>
          <p:cNvSpPr/>
          <p:nvPr/>
        </p:nvSpPr>
        <p:spPr>
          <a:xfrm>
            <a:off x="731520" y="3931920"/>
            <a:ext cx="7498079" cy="685800"/>
          </a:xfrm>
          <a:prstGeom prst="roundRect">
            <a:avLst/>
          </a:prstGeom>
          <a:solidFill>
            <a:srgbClr val="25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3977640"/>
            <a:ext cx="2286000" cy="594360"/>
          </a:xfrm>
          <a:prstGeom prst="rect">
            <a:avLst/>
          </a:prstGeom>
          <a:noFill/>
        </p:spPr>
        <p:txBody>
          <a:bodyPr wrap="square">
            <a:spAutoFit/>
          </a:bodyPr>
          <a:lstStyle/>
          <a:p>
            <a:pPr algn="l">
              <a:defRPr sz="1500" b="1">
                <a:solidFill>
                  <a:srgbClr val="00C9A7"/>
                </a:solidFill>
                <a:latin typeface="Calibri"/>
              </a:defRPr>
            </a:pPr>
            <a:r>
              <a:t>🖥️  Streamlit</a:t>
            </a:r>
          </a:p>
        </p:txBody>
      </p:sp>
      <p:sp>
        <p:nvSpPr>
          <p:cNvPr id="15" name="TextBox 14"/>
          <p:cNvSpPr txBox="1"/>
          <p:nvPr/>
        </p:nvSpPr>
        <p:spPr>
          <a:xfrm>
            <a:off x="3291840" y="3977640"/>
            <a:ext cx="4754880" cy="594360"/>
          </a:xfrm>
          <a:prstGeom prst="rect">
            <a:avLst/>
          </a:prstGeom>
          <a:noFill/>
        </p:spPr>
        <p:txBody>
          <a:bodyPr wrap="square">
            <a:spAutoFit/>
          </a:bodyPr>
          <a:lstStyle/>
          <a:p>
            <a:pPr algn="l">
              <a:defRPr sz="1200" b="0">
                <a:solidFill>
                  <a:srgbClr val="CCCCCC"/>
                </a:solidFill>
                <a:latin typeface="Calibri"/>
              </a:defRPr>
            </a:pPr>
            <a:r>
              <a:t>Interactive web dashboard framework.</a:t>
            </a:r>
            <a:br/>
            <a:r>
              <a:t>7-page UI for managing the entire system</a:t>
            </a:r>
          </a:p>
        </p:txBody>
      </p:sp>
      <p:sp>
        <p:nvSpPr>
          <p:cNvPr id="16" name="Rounded Rectangle 15"/>
          <p:cNvSpPr/>
          <p:nvPr/>
        </p:nvSpPr>
        <p:spPr>
          <a:xfrm>
            <a:off x="731520" y="4754880"/>
            <a:ext cx="7498079" cy="685800"/>
          </a:xfrm>
          <a:prstGeom prst="roundRect">
            <a:avLst/>
          </a:prstGeom>
          <a:solidFill>
            <a:srgbClr val="25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4800600"/>
            <a:ext cx="2286000" cy="594360"/>
          </a:xfrm>
          <a:prstGeom prst="rect">
            <a:avLst/>
          </a:prstGeom>
          <a:noFill/>
        </p:spPr>
        <p:txBody>
          <a:bodyPr wrap="square">
            <a:spAutoFit/>
          </a:bodyPr>
          <a:lstStyle/>
          <a:p>
            <a:pPr algn="l">
              <a:defRPr sz="1500" b="1">
                <a:solidFill>
                  <a:srgbClr val="00C9A7"/>
                </a:solidFill>
                <a:latin typeface="Calibri"/>
              </a:defRPr>
            </a:pPr>
            <a:r>
              <a:t>📊  Pandas + Matplotlib</a:t>
            </a:r>
          </a:p>
        </p:txBody>
      </p:sp>
      <p:sp>
        <p:nvSpPr>
          <p:cNvPr id="18" name="TextBox 17"/>
          <p:cNvSpPr txBox="1"/>
          <p:nvPr/>
        </p:nvSpPr>
        <p:spPr>
          <a:xfrm>
            <a:off x="3291840" y="4800600"/>
            <a:ext cx="4754880" cy="594360"/>
          </a:xfrm>
          <a:prstGeom prst="rect">
            <a:avLst/>
          </a:prstGeom>
          <a:noFill/>
        </p:spPr>
        <p:txBody>
          <a:bodyPr wrap="square">
            <a:spAutoFit/>
          </a:bodyPr>
          <a:lstStyle/>
          <a:p>
            <a:pPr algn="l">
              <a:defRPr sz="1200" b="0">
                <a:solidFill>
                  <a:srgbClr val="CCCCCC"/>
                </a:solidFill>
                <a:latin typeface="Calibri"/>
              </a:defRPr>
            </a:pPr>
            <a:r>
              <a:t>Data manipulation and chart generation</a:t>
            </a:r>
            <a:br/>
            <a:r>
              <a:t>for analytics and reports</a:t>
            </a:r>
          </a:p>
        </p:txBody>
      </p:sp>
      <p:sp>
        <p:nvSpPr>
          <p:cNvPr id="19" name="Rounded Rectangle 18"/>
          <p:cNvSpPr/>
          <p:nvPr/>
        </p:nvSpPr>
        <p:spPr>
          <a:xfrm>
            <a:off x="731520" y="5577840"/>
            <a:ext cx="7498079" cy="685800"/>
          </a:xfrm>
          <a:prstGeom prst="roundRect">
            <a:avLst/>
          </a:prstGeom>
          <a:solidFill>
            <a:srgbClr val="252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5623560"/>
            <a:ext cx="2286000" cy="594360"/>
          </a:xfrm>
          <a:prstGeom prst="rect">
            <a:avLst/>
          </a:prstGeom>
          <a:noFill/>
        </p:spPr>
        <p:txBody>
          <a:bodyPr wrap="square">
            <a:spAutoFit/>
          </a:bodyPr>
          <a:lstStyle/>
          <a:p>
            <a:pPr algn="l">
              <a:defRPr sz="1500" b="1">
                <a:solidFill>
                  <a:srgbClr val="00C9A7"/>
                </a:solidFill>
                <a:latin typeface="Calibri"/>
              </a:defRPr>
            </a:pPr>
            <a:r>
              <a:t>🔐  python-dotenv</a:t>
            </a:r>
          </a:p>
        </p:txBody>
      </p:sp>
      <p:sp>
        <p:nvSpPr>
          <p:cNvPr id="21" name="TextBox 20"/>
          <p:cNvSpPr txBox="1"/>
          <p:nvPr/>
        </p:nvSpPr>
        <p:spPr>
          <a:xfrm>
            <a:off x="3291840" y="5623560"/>
            <a:ext cx="4754880" cy="594360"/>
          </a:xfrm>
          <a:prstGeom prst="rect">
            <a:avLst/>
          </a:prstGeom>
          <a:noFill/>
        </p:spPr>
        <p:txBody>
          <a:bodyPr wrap="square">
            <a:spAutoFit/>
          </a:bodyPr>
          <a:lstStyle/>
          <a:p>
            <a:pPr algn="l">
              <a:defRPr sz="1200" b="0">
                <a:solidFill>
                  <a:srgbClr val="CCCCCC"/>
                </a:solidFill>
                <a:latin typeface="Calibri"/>
              </a:defRPr>
            </a:pPr>
            <a:r>
              <a:t>Securely load MongoDB credentials from .env file.</a:t>
            </a:r>
            <a:br/>
            <a:r>
              <a:t>Prevents hardcoding passwords in source code</a:t>
            </a:r>
          </a:p>
        </p:txBody>
      </p:sp>
      <p:sp>
        <p:nvSpPr>
          <p:cNvPr id="22" name="TextBox 21"/>
          <p:cNvSpPr txBox="1"/>
          <p:nvPr/>
        </p:nvSpPr>
        <p:spPr>
          <a:xfrm>
            <a:off x="7772400" y="6400800"/>
            <a:ext cx="1097280" cy="365760"/>
          </a:xfrm>
          <a:prstGeom prst="rect">
            <a:avLst/>
          </a:prstGeom>
          <a:noFill/>
        </p:spPr>
        <p:txBody>
          <a:bodyPr wrap="square">
            <a:spAutoFit/>
          </a:bodyPr>
          <a:lstStyle/>
          <a:p>
            <a:pPr algn="r">
              <a:defRPr sz="1000" b="0">
                <a:solidFill>
                  <a:srgbClr val="CCCCCC"/>
                </a:solidFill>
                <a:latin typeface="Calibri"/>
              </a:defRPr>
            </a:pPr>
            <a:r>
              <a:t>3 / 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731520" y="457200"/>
            <a:ext cx="7315200" cy="731520"/>
          </a:xfrm>
          <a:prstGeom prst="rect">
            <a:avLst/>
          </a:prstGeom>
          <a:noFill/>
        </p:spPr>
        <p:txBody>
          <a:bodyPr wrap="square">
            <a:spAutoFit/>
          </a:bodyPr>
          <a:lstStyle/>
          <a:p>
            <a:pPr algn="l">
              <a:defRPr sz="3200" b="1">
                <a:solidFill>
                  <a:srgbClr val="FF8C42"/>
                </a:solidFill>
                <a:latin typeface="Calibri"/>
              </a:defRPr>
            </a:pPr>
            <a:r>
              <a:t>Project Architecture</a:t>
            </a:r>
          </a:p>
        </p:txBody>
      </p:sp>
      <p:sp>
        <p:nvSpPr>
          <p:cNvPr id="3" name="Rectangle 2"/>
          <p:cNvSpPr/>
          <p:nvPr/>
        </p:nvSpPr>
        <p:spPr>
          <a:xfrm>
            <a:off x="731520" y="1097280"/>
            <a:ext cx="1828800" cy="50800"/>
          </a:xfrm>
          <a:prstGeom prst="rect">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463040"/>
            <a:ext cx="7498079" cy="868680"/>
          </a:xfrm>
          <a:prstGeom prst="roundRect">
            <a:avLst/>
          </a:prstGeom>
          <a:solidFill>
            <a:srgbClr val="25253A"/>
          </a:solidFill>
          <a:ln w="19050">
            <a:solidFill>
              <a:srgbClr val="0096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481328"/>
            <a:ext cx="2743200" cy="365760"/>
          </a:xfrm>
          <a:prstGeom prst="rect">
            <a:avLst/>
          </a:prstGeom>
          <a:noFill/>
        </p:spPr>
        <p:txBody>
          <a:bodyPr wrap="square">
            <a:spAutoFit/>
          </a:bodyPr>
          <a:lstStyle/>
          <a:p>
            <a:pPr algn="l">
              <a:defRPr sz="1400" b="1">
                <a:solidFill>
                  <a:srgbClr val="0096D6"/>
                </a:solidFill>
                <a:latin typeface="Calibri"/>
              </a:defRPr>
            </a:pPr>
            <a:r>
              <a:t>🖥️  DASHBOARD LAYER</a:t>
            </a:r>
          </a:p>
        </p:txBody>
      </p:sp>
      <p:sp>
        <p:nvSpPr>
          <p:cNvPr id="6" name="TextBox 5"/>
          <p:cNvSpPr txBox="1"/>
          <p:nvPr/>
        </p:nvSpPr>
        <p:spPr>
          <a:xfrm>
            <a:off x="914400" y="1847088"/>
            <a:ext cx="2286000" cy="411480"/>
          </a:xfrm>
          <a:prstGeom prst="rect">
            <a:avLst/>
          </a:prstGeom>
          <a:noFill/>
        </p:spPr>
        <p:txBody>
          <a:bodyPr wrap="square">
            <a:spAutoFit/>
          </a:bodyPr>
          <a:lstStyle/>
          <a:p>
            <a:pPr algn="l">
              <a:defRPr sz="1100" b="0">
                <a:solidFill>
                  <a:srgbClr val="CCCCCC"/>
                </a:solidFill>
                <a:latin typeface="Calibri"/>
              </a:defRPr>
            </a:pPr>
            <a:r>
              <a:t>dashboard/app.py</a:t>
            </a:r>
          </a:p>
        </p:txBody>
      </p:sp>
      <p:sp>
        <p:nvSpPr>
          <p:cNvPr id="7" name="TextBox 6"/>
          <p:cNvSpPr txBox="1"/>
          <p:nvPr/>
        </p:nvSpPr>
        <p:spPr>
          <a:xfrm>
            <a:off x="4114800" y="1554480"/>
            <a:ext cx="3931920" cy="685800"/>
          </a:xfrm>
          <a:prstGeom prst="rect">
            <a:avLst/>
          </a:prstGeom>
          <a:noFill/>
        </p:spPr>
        <p:txBody>
          <a:bodyPr wrap="square">
            <a:spAutoFit/>
          </a:bodyPr>
          <a:lstStyle/>
          <a:p>
            <a:pPr algn="l">
              <a:defRPr sz="1200" b="0">
                <a:solidFill>
                  <a:srgbClr val="FFFFFF"/>
                </a:solidFill>
                <a:latin typeface="Calibri"/>
              </a:defRPr>
            </a:pPr>
            <a:r>
              <a:t>Streamlit UI  –  7 interactive pages</a:t>
            </a:r>
          </a:p>
        </p:txBody>
      </p:sp>
      <p:sp>
        <p:nvSpPr>
          <p:cNvPr id="8" name="TextBox 7"/>
          <p:cNvSpPr txBox="1"/>
          <p:nvPr/>
        </p:nvSpPr>
        <p:spPr>
          <a:xfrm>
            <a:off x="4114800" y="2286000"/>
            <a:ext cx="914400" cy="228600"/>
          </a:xfrm>
          <a:prstGeom prst="rect">
            <a:avLst/>
          </a:prstGeom>
          <a:noFill/>
        </p:spPr>
        <p:txBody>
          <a:bodyPr wrap="square">
            <a:spAutoFit/>
          </a:bodyPr>
          <a:lstStyle/>
          <a:p>
            <a:pPr algn="ctr">
              <a:defRPr sz="1400" b="0">
                <a:solidFill>
                  <a:srgbClr val="CCCCCC"/>
                </a:solidFill>
                <a:latin typeface="Calibri"/>
              </a:defRPr>
            </a:pPr>
            <a:r>
              <a:t>▼</a:t>
            </a:r>
          </a:p>
        </p:txBody>
      </p:sp>
      <p:sp>
        <p:nvSpPr>
          <p:cNvPr id="9" name="Rounded Rectangle 8"/>
          <p:cNvSpPr/>
          <p:nvPr/>
        </p:nvSpPr>
        <p:spPr>
          <a:xfrm>
            <a:off x="731520" y="2468880"/>
            <a:ext cx="7498079" cy="868680"/>
          </a:xfrm>
          <a:prstGeom prst="roundRect">
            <a:avLst/>
          </a:prstGeom>
          <a:solidFill>
            <a:srgbClr val="25253A"/>
          </a:solidFill>
          <a:ln w="19050">
            <a:solidFill>
              <a:srgbClr val="00C9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487168"/>
            <a:ext cx="2743200" cy="365760"/>
          </a:xfrm>
          <a:prstGeom prst="rect">
            <a:avLst/>
          </a:prstGeom>
          <a:noFill/>
        </p:spPr>
        <p:txBody>
          <a:bodyPr wrap="square">
            <a:spAutoFit/>
          </a:bodyPr>
          <a:lstStyle/>
          <a:p>
            <a:pPr algn="l">
              <a:defRPr sz="1400" b="1">
                <a:solidFill>
                  <a:srgbClr val="00C9A7"/>
                </a:solidFill>
                <a:latin typeface="Calibri"/>
              </a:defRPr>
            </a:pPr>
            <a:r>
              <a:t>⚙️  SERVICE LAYER</a:t>
            </a:r>
          </a:p>
        </p:txBody>
      </p:sp>
      <p:sp>
        <p:nvSpPr>
          <p:cNvPr id="11" name="TextBox 10"/>
          <p:cNvSpPr txBox="1"/>
          <p:nvPr/>
        </p:nvSpPr>
        <p:spPr>
          <a:xfrm>
            <a:off x="914400" y="2852928"/>
            <a:ext cx="2286000" cy="411480"/>
          </a:xfrm>
          <a:prstGeom prst="rect">
            <a:avLst/>
          </a:prstGeom>
          <a:noFill/>
        </p:spPr>
        <p:txBody>
          <a:bodyPr wrap="square">
            <a:spAutoFit/>
          </a:bodyPr>
          <a:lstStyle/>
          <a:p>
            <a:pPr algn="l">
              <a:defRPr sz="1100" b="0">
                <a:solidFill>
                  <a:srgbClr val="CCCCCC"/>
                </a:solidFill>
                <a:latin typeface="Calibri"/>
              </a:defRPr>
            </a:pPr>
            <a:r>
              <a:t>services/</a:t>
            </a:r>
          </a:p>
        </p:txBody>
      </p:sp>
      <p:sp>
        <p:nvSpPr>
          <p:cNvPr id="12" name="TextBox 11"/>
          <p:cNvSpPr txBox="1"/>
          <p:nvPr/>
        </p:nvSpPr>
        <p:spPr>
          <a:xfrm>
            <a:off x="4114800" y="2560320"/>
            <a:ext cx="3931920" cy="685800"/>
          </a:xfrm>
          <a:prstGeom prst="rect">
            <a:avLst/>
          </a:prstGeom>
          <a:noFill/>
        </p:spPr>
        <p:txBody>
          <a:bodyPr wrap="square">
            <a:spAutoFit/>
          </a:bodyPr>
          <a:lstStyle/>
          <a:p>
            <a:pPr algn="l">
              <a:defRPr sz="1200" b="0">
                <a:solidFill>
                  <a:srgbClr val="FFFFFF"/>
                </a:solidFill>
                <a:latin typeface="Calibri"/>
              </a:defRPr>
            </a:pPr>
            <a:r>
              <a:t>Triggers + Stored Procedures</a:t>
            </a:r>
            <a:br/>
            <a:r>
              <a:t>(order_service, alert_service, validation_service, turnaround_service)</a:t>
            </a:r>
          </a:p>
        </p:txBody>
      </p:sp>
      <p:sp>
        <p:nvSpPr>
          <p:cNvPr id="13" name="TextBox 12"/>
          <p:cNvSpPr txBox="1"/>
          <p:nvPr/>
        </p:nvSpPr>
        <p:spPr>
          <a:xfrm>
            <a:off x="4114800" y="3291840"/>
            <a:ext cx="914400" cy="228600"/>
          </a:xfrm>
          <a:prstGeom prst="rect">
            <a:avLst/>
          </a:prstGeom>
          <a:noFill/>
        </p:spPr>
        <p:txBody>
          <a:bodyPr wrap="square">
            <a:spAutoFit/>
          </a:bodyPr>
          <a:lstStyle/>
          <a:p>
            <a:pPr algn="ctr">
              <a:defRPr sz="1400" b="0">
                <a:solidFill>
                  <a:srgbClr val="CCCCCC"/>
                </a:solidFill>
                <a:latin typeface="Calibri"/>
              </a:defRPr>
            </a:pPr>
            <a:r>
              <a:t>▼</a:t>
            </a:r>
          </a:p>
        </p:txBody>
      </p:sp>
      <p:sp>
        <p:nvSpPr>
          <p:cNvPr id="14" name="Rounded Rectangle 13"/>
          <p:cNvSpPr/>
          <p:nvPr/>
        </p:nvSpPr>
        <p:spPr>
          <a:xfrm>
            <a:off x="731520" y="3474720"/>
            <a:ext cx="7498079" cy="868680"/>
          </a:xfrm>
          <a:prstGeom prst="roundRect">
            <a:avLst/>
          </a:prstGeom>
          <a:solidFill>
            <a:srgbClr val="25253A"/>
          </a:solidFill>
          <a:ln w="19050">
            <a:solidFill>
              <a:srgbClr val="FF8C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3493008"/>
            <a:ext cx="2743200" cy="365760"/>
          </a:xfrm>
          <a:prstGeom prst="rect">
            <a:avLst/>
          </a:prstGeom>
          <a:noFill/>
        </p:spPr>
        <p:txBody>
          <a:bodyPr wrap="square">
            <a:spAutoFit/>
          </a:bodyPr>
          <a:lstStyle/>
          <a:p>
            <a:pPr algn="l">
              <a:defRPr sz="1400" b="1">
                <a:solidFill>
                  <a:srgbClr val="FF8C42"/>
                </a:solidFill>
                <a:latin typeface="Calibri"/>
              </a:defRPr>
            </a:pPr>
            <a:r>
              <a:t>📊  QUERY LAYER</a:t>
            </a:r>
          </a:p>
        </p:txBody>
      </p:sp>
      <p:sp>
        <p:nvSpPr>
          <p:cNvPr id="16" name="TextBox 15"/>
          <p:cNvSpPr txBox="1"/>
          <p:nvPr/>
        </p:nvSpPr>
        <p:spPr>
          <a:xfrm>
            <a:off x="914400" y="3858768"/>
            <a:ext cx="2286000" cy="411480"/>
          </a:xfrm>
          <a:prstGeom prst="rect">
            <a:avLst/>
          </a:prstGeom>
          <a:noFill/>
        </p:spPr>
        <p:txBody>
          <a:bodyPr wrap="square">
            <a:spAutoFit/>
          </a:bodyPr>
          <a:lstStyle/>
          <a:p>
            <a:pPr algn="l">
              <a:defRPr sz="1100" b="0">
                <a:solidFill>
                  <a:srgbClr val="CCCCCC"/>
                </a:solidFill>
                <a:latin typeface="Calibri"/>
              </a:defRPr>
            </a:pPr>
            <a:r>
              <a:t>queries/</a:t>
            </a:r>
          </a:p>
        </p:txBody>
      </p:sp>
      <p:sp>
        <p:nvSpPr>
          <p:cNvPr id="17" name="TextBox 16"/>
          <p:cNvSpPr txBox="1"/>
          <p:nvPr/>
        </p:nvSpPr>
        <p:spPr>
          <a:xfrm>
            <a:off x="4114800" y="3566160"/>
            <a:ext cx="3931920" cy="685800"/>
          </a:xfrm>
          <a:prstGeom prst="rect">
            <a:avLst/>
          </a:prstGeom>
          <a:noFill/>
        </p:spPr>
        <p:txBody>
          <a:bodyPr wrap="square">
            <a:spAutoFit/>
          </a:bodyPr>
          <a:lstStyle/>
          <a:p>
            <a:pPr algn="l">
              <a:defRPr sz="1200" b="0">
                <a:solidFill>
                  <a:srgbClr val="FFFFFF"/>
                </a:solidFill>
                <a:latin typeface="Calibri"/>
              </a:defRPr>
            </a:pPr>
            <a:r>
              <a:t>Aggregation Pipelines replacing SQL</a:t>
            </a:r>
            <a:br/>
            <a:r>
              <a:t>(analytics_queries, report_queries, alert_queries)</a:t>
            </a:r>
          </a:p>
        </p:txBody>
      </p:sp>
      <p:sp>
        <p:nvSpPr>
          <p:cNvPr id="18" name="TextBox 17"/>
          <p:cNvSpPr txBox="1"/>
          <p:nvPr/>
        </p:nvSpPr>
        <p:spPr>
          <a:xfrm>
            <a:off x="4114800" y="4297680"/>
            <a:ext cx="914400" cy="228600"/>
          </a:xfrm>
          <a:prstGeom prst="rect">
            <a:avLst/>
          </a:prstGeom>
          <a:noFill/>
        </p:spPr>
        <p:txBody>
          <a:bodyPr wrap="square">
            <a:spAutoFit/>
          </a:bodyPr>
          <a:lstStyle/>
          <a:p>
            <a:pPr algn="ctr">
              <a:defRPr sz="1400" b="0">
                <a:solidFill>
                  <a:srgbClr val="CCCCCC"/>
                </a:solidFill>
                <a:latin typeface="Calibri"/>
              </a:defRPr>
            </a:pPr>
            <a:r>
              <a:t>▼</a:t>
            </a:r>
          </a:p>
        </p:txBody>
      </p:sp>
      <p:sp>
        <p:nvSpPr>
          <p:cNvPr id="19" name="Rounded Rectangle 18"/>
          <p:cNvSpPr/>
          <p:nvPr/>
        </p:nvSpPr>
        <p:spPr>
          <a:xfrm>
            <a:off x="731520" y="4480560"/>
            <a:ext cx="7498079" cy="868680"/>
          </a:xfrm>
          <a:prstGeom prst="roundRect">
            <a:avLst/>
          </a:prstGeom>
          <a:solidFill>
            <a:srgbClr val="25253A"/>
          </a:solidFill>
          <a:ln w="19050">
            <a:solidFill>
              <a:srgbClr val="7B6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4498848"/>
            <a:ext cx="2743200" cy="365760"/>
          </a:xfrm>
          <a:prstGeom prst="rect">
            <a:avLst/>
          </a:prstGeom>
          <a:noFill/>
        </p:spPr>
        <p:txBody>
          <a:bodyPr wrap="square">
            <a:spAutoFit/>
          </a:bodyPr>
          <a:lstStyle/>
          <a:p>
            <a:pPr algn="l">
              <a:defRPr sz="1400" b="1">
                <a:solidFill>
                  <a:srgbClr val="7B68EE"/>
                </a:solidFill>
                <a:latin typeface="Calibri"/>
              </a:defRPr>
            </a:pPr>
            <a:r>
              <a:t>📦  MODEL LAYER</a:t>
            </a:r>
          </a:p>
        </p:txBody>
      </p:sp>
      <p:sp>
        <p:nvSpPr>
          <p:cNvPr id="21" name="TextBox 20"/>
          <p:cNvSpPr txBox="1"/>
          <p:nvPr/>
        </p:nvSpPr>
        <p:spPr>
          <a:xfrm>
            <a:off x="914400" y="4864608"/>
            <a:ext cx="2286000" cy="411480"/>
          </a:xfrm>
          <a:prstGeom prst="rect">
            <a:avLst/>
          </a:prstGeom>
          <a:noFill/>
        </p:spPr>
        <p:txBody>
          <a:bodyPr wrap="square">
            <a:spAutoFit/>
          </a:bodyPr>
          <a:lstStyle/>
          <a:p>
            <a:pPr algn="l">
              <a:defRPr sz="1100" b="0">
                <a:solidFill>
                  <a:srgbClr val="CCCCCC"/>
                </a:solidFill>
                <a:latin typeface="Calibri"/>
              </a:defRPr>
            </a:pPr>
            <a:r>
              <a:t>models/</a:t>
            </a:r>
          </a:p>
        </p:txBody>
      </p:sp>
      <p:sp>
        <p:nvSpPr>
          <p:cNvPr id="22" name="TextBox 21"/>
          <p:cNvSpPr txBox="1"/>
          <p:nvPr/>
        </p:nvSpPr>
        <p:spPr>
          <a:xfrm>
            <a:off x="4114800" y="4572000"/>
            <a:ext cx="3931920" cy="685800"/>
          </a:xfrm>
          <a:prstGeom prst="rect">
            <a:avLst/>
          </a:prstGeom>
          <a:noFill/>
        </p:spPr>
        <p:txBody>
          <a:bodyPr wrap="square">
            <a:spAutoFit/>
          </a:bodyPr>
          <a:lstStyle/>
          <a:p>
            <a:pPr algn="l">
              <a:defRPr sz="1200" b="0">
                <a:solidFill>
                  <a:srgbClr val="FFFFFF"/>
                </a:solidFill>
                <a:latin typeface="Calibri"/>
              </a:defRPr>
            </a:pPr>
            <a:r>
              <a:t>Collection schemas + CRUD operations</a:t>
            </a:r>
            <a:br/>
            <a:r>
              <a:t>(patient_model, lab_test_model, order_model)</a:t>
            </a:r>
          </a:p>
        </p:txBody>
      </p:sp>
      <p:sp>
        <p:nvSpPr>
          <p:cNvPr id="23" name="TextBox 22"/>
          <p:cNvSpPr txBox="1"/>
          <p:nvPr/>
        </p:nvSpPr>
        <p:spPr>
          <a:xfrm>
            <a:off x="4114800" y="5303520"/>
            <a:ext cx="914400" cy="228600"/>
          </a:xfrm>
          <a:prstGeom prst="rect">
            <a:avLst/>
          </a:prstGeom>
          <a:noFill/>
        </p:spPr>
        <p:txBody>
          <a:bodyPr wrap="square">
            <a:spAutoFit/>
          </a:bodyPr>
          <a:lstStyle/>
          <a:p>
            <a:pPr algn="ctr">
              <a:defRPr sz="1400" b="0">
                <a:solidFill>
                  <a:srgbClr val="CCCCCC"/>
                </a:solidFill>
                <a:latin typeface="Calibri"/>
              </a:defRPr>
            </a:pPr>
            <a:r>
              <a:t>▼</a:t>
            </a:r>
          </a:p>
        </p:txBody>
      </p:sp>
      <p:sp>
        <p:nvSpPr>
          <p:cNvPr id="24" name="Rounded Rectangle 23"/>
          <p:cNvSpPr/>
          <p:nvPr/>
        </p:nvSpPr>
        <p:spPr>
          <a:xfrm>
            <a:off x="731520" y="5486400"/>
            <a:ext cx="7498079" cy="868680"/>
          </a:xfrm>
          <a:prstGeom prst="roundRect">
            <a:avLst/>
          </a:prstGeom>
          <a:solidFill>
            <a:srgbClr val="25253A"/>
          </a:solidFill>
          <a:ln w="19050">
            <a:solidFill>
              <a:srgbClr val="E040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5504688"/>
            <a:ext cx="2743200" cy="365760"/>
          </a:xfrm>
          <a:prstGeom prst="rect">
            <a:avLst/>
          </a:prstGeom>
          <a:noFill/>
        </p:spPr>
        <p:txBody>
          <a:bodyPr wrap="square">
            <a:spAutoFit/>
          </a:bodyPr>
          <a:lstStyle/>
          <a:p>
            <a:pPr algn="l">
              <a:defRPr sz="1400" b="1">
                <a:solidFill>
                  <a:srgbClr val="E04040"/>
                </a:solidFill>
                <a:latin typeface="Calibri"/>
              </a:defRPr>
            </a:pPr>
            <a:r>
              <a:t>🗄️  DATABASE LAYER</a:t>
            </a:r>
          </a:p>
        </p:txBody>
      </p:sp>
      <p:sp>
        <p:nvSpPr>
          <p:cNvPr id="26" name="TextBox 25"/>
          <p:cNvSpPr txBox="1"/>
          <p:nvPr/>
        </p:nvSpPr>
        <p:spPr>
          <a:xfrm>
            <a:off x="914400" y="5870448"/>
            <a:ext cx="2286000" cy="411480"/>
          </a:xfrm>
          <a:prstGeom prst="rect">
            <a:avLst/>
          </a:prstGeom>
          <a:noFill/>
        </p:spPr>
        <p:txBody>
          <a:bodyPr wrap="square">
            <a:spAutoFit/>
          </a:bodyPr>
          <a:lstStyle/>
          <a:p>
            <a:pPr algn="l">
              <a:defRPr sz="1100" b="0">
                <a:solidFill>
                  <a:srgbClr val="CCCCCC"/>
                </a:solidFill>
                <a:latin typeface="Calibri"/>
              </a:defRPr>
            </a:pPr>
            <a:r>
              <a:t>db/mongo_connection.py</a:t>
            </a:r>
          </a:p>
        </p:txBody>
      </p:sp>
      <p:sp>
        <p:nvSpPr>
          <p:cNvPr id="27" name="TextBox 26"/>
          <p:cNvSpPr txBox="1"/>
          <p:nvPr/>
        </p:nvSpPr>
        <p:spPr>
          <a:xfrm>
            <a:off x="4114800" y="5577840"/>
            <a:ext cx="3931920" cy="685800"/>
          </a:xfrm>
          <a:prstGeom prst="rect">
            <a:avLst/>
          </a:prstGeom>
          <a:noFill/>
        </p:spPr>
        <p:txBody>
          <a:bodyPr wrap="square">
            <a:spAutoFit/>
          </a:bodyPr>
          <a:lstStyle/>
          <a:p>
            <a:pPr algn="l">
              <a:defRPr sz="1200" b="0">
                <a:solidFill>
                  <a:srgbClr val="FFFFFF"/>
                </a:solidFill>
                <a:latin typeface="Calibri"/>
              </a:defRPr>
            </a:pPr>
            <a:r>
              <a:t>MongoDB Atlas connection + JSON Schema Validators</a:t>
            </a:r>
          </a:p>
        </p:txBody>
      </p:sp>
      <p:sp>
        <p:nvSpPr>
          <p:cNvPr id="28" name="TextBox 27"/>
          <p:cNvSpPr txBox="1"/>
          <p:nvPr/>
        </p:nvSpPr>
        <p:spPr>
          <a:xfrm>
            <a:off x="7772400" y="6400800"/>
            <a:ext cx="1097280" cy="365760"/>
          </a:xfrm>
          <a:prstGeom prst="rect">
            <a:avLst/>
          </a:prstGeom>
          <a:noFill/>
        </p:spPr>
        <p:txBody>
          <a:bodyPr wrap="square">
            <a:spAutoFit/>
          </a:bodyPr>
          <a:lstStyle/>
          <a:p>
            <a:pPr algn="r">
              <a:defRPr sz="1000" b="0">
                <a:solidFill>
                  <a:srgbClr val="CCCCCC"/>
                </a:solidFill>
                <a:latin typeface="Calibri"/>
              </a:defRPr>
            </a:pPr>
            <a:r>
              <a:t>4 / 10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731520" y="457200"/>
            <a:ext cx="7315200" cy="731520"/>
          </a:xfrm>
          <a:prstGeom prst="rect">
            <a:avLst/>
          </a:prstGeom>
          <a:noFill/>
        </p:spPr>
        <p:txBody>
          <a:bodyPr wrap="square">
            <a:spAutoFit/>
          </a:bodyPr>
          <a:lstStyle/>
          <a:p>
            <a:pPr algn="l">
              <a:defRPr sz="3200" b="1">
                <a:solidFill>
                  <a:srgbClr val="7B68EE"/>
                </a:solidFill>
                <a:latin typeface="Calibri"/>
              </a:defRPr>
            </a:pPr>
            <a:r>
              <a:t>Schema Design – Collections</a:t>
            </a:r>
          </a:p>
        </p:txBody>
      </p:sp>
      <p:sp>
        <p:nvSpPr>
          <p:cNvPr id="3" name="Rectangle 2"/>
          <p:cNvSpPr/>
          <p:nvPr/>
        </p:nvSpPr>
        <p:spPr>
          <a:xfrm>
            <a:off x="731520" y="1097280"/>
            <a:ext cx="1828800" cy="50800"/>
          </a:xfrm>
          <a:prstGeom prst="rect">
            <a:avLst/>
          </a:prstGeom>
          <a:solidFill>
            <a:srgbClr val="7B68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0"/>
            <a:ext cx="7315200" cy="457200"/>
          </a:xfrm>
          <a:prstGeom prst="rect">
            <a:avLst/>
          </a:prstGeom>
          <a:noFill/>
        </p:spPr>
        <p:txBody>
          <a:bodyPr wrap="square">
            <a:spAutoFit/>
          </a:bodyPr>
          <a:lstStyle/>
          <a:p>
            <a:pPr algn="l">
              <a:defRPr sz="1400" b="0">
                <a:solidFill>
                  <a:srgbClr val="CCCCCC"/>
                </a:solidFill>
                <a:latin typeface="Calibri"/>
              </a:defRPr>
            </a:pPr>
            <a:r>
              <a:t>4 collections with JSON Schema Validators (equivalent to CREATE TABLE with constraints)</a:t>
            </a:r>
          </a:p>
        </p:txBody>
      </p:sp>
      <p:graphicFrame>
        <p:nvGraphicFramePr>
          <p:cNvPr id="5" name="Table 4"/>
          <p:cNvGraphicFramePr>
            <a:graphicFrameLocks noGrp="1"/>
          </p:cNvGraphicFramePr>
          <p:nvPr/>
        </p:nvGraphicFramePr>
        <p:xfrm>
          <a:off x="457200" y="2011680"/>
          <a:ext cx="8229600" cy="3657600"/>
        </p:xfrm>
        <a:graphic>
          <a:graphicData uri="http://schemas.openxmlformats.org/drawingml/2006/table">
            <a:tbl>
              <a:tblPr firstRow="1" bandRow="1">
                <a:tableStyleId>{5C22544A-7EE6-4342-B048-85BDC9FD1C3A}</a:tableStyleId>
              </a:tblPr>
              <a:tblGrid>
                <a:gridCol w="2057400"/>
                <a:gridCol w="2057400"/>
                <a:gridCol w="2057400"/>
                <a:gridCol w="2057400"/>
              </a:tblGrid>
              <a:tr h="731520">
                <a:tc>
                  <a:txBody>
                    <a:bodyPr/>
                    <a:lstStyle/>
                    <a:p>
                      <a:pPr algn="ctr">
                        <a:defRPr sz="1300" b="1">
                          <a:solidFill>
                            <a:srgbClr val="FFFFFF"/>
                          </a:solidFill>
                          <a:latin typeface="Calibri"/>
                        </a:defRPr>
                      </a:pPr>
                      <a:r>
                        <a:t>Collection</a:t>
                      </a:r>
                    </a:p>
                  </a:txBody>
                  <a:tcPr>
                    <a:solidFill>
                      <a:srgbClr val="7B68EE"/>
                    </a:solidFill>
                  </a:tcPr>
                </a:tc>
                <a:tc>
                  <a:txBody>
                    <a:bodyPr/>
                    <a:lstStyle/>
                    <a:p>
                      <a:pPr algn="ctr">
                        <a:defRPr sz="1300" b="1">
                          <a:solidFill>
                            <a:srgbClr val="FFFFFF"/>
                          </a:solidFill>
                          <a:latin typeface="Calibri"/>
                        </a:defRPr>
                      </a:pPr>
                      <a:r>
                        <a:t>Key Fields</a:t>
                      </a:r>
                    </a:p>
                  </a:txBody>
                  <a:tcPr>
                    <a:solidFill>
                      <a:srgbClr val="7B68EE"/>
                    </a:solidFill>
                  </a:tcPr>
                </a:tc>
                <a:tc>
                  <a:txBody>
                    <a:bodyPr/>
                    <a:lstStyle/>
                    <a:p>
                      <a:pPr algn="ctr">
                        <a:defRPr sz="1300" b="1">
                          <a:solidFill>
                            <a:srgbClr val="FFFFFF"/>
                          </a:solidFill>
                          <a:latin typeface="Calibri"/>
                        </a:defRPr>
                      </a:pPr>
                      <a:r>
                        <a:t>Indexes</a:t>
                      </a:r>
                    </a:p>
                  </a:txBody>
                  <a:tcPr>
                    <a:solidFill>
                      <a:srgbClr val="7B68EE"/>
                    </a:solidFill>
                  </a:tcPr>
                </a:tc>
                <a:tc>
                  <a:txBody>
                    <a:bodyPr/>
                    <a:lstStyle/>
                    <a:p>
                      <a:pPr algn="ctr">
                        <a:defRPr sz="1300" b="1">
                          <a:solidFill>
                            <a:srgbClr val="FFFFFF"/>
                          </a:solidFill>
                          <a:latin typeface="Calibri"/>
                        </a:defRPr>
                      </a:pPr>
                      <a:r>
                        <a:t>SQL Constraints Applied</a:t>
                      </a:r>
                    </a:p>
                  </a:txBody>
                  <a:tcPr>
                    <a:solidFill>
                      <a:srgbClr val="7B68EE"/>
                    </a:solidFill>
                  </a:tcPr>
                </a:tc>
              </a:tr>
              <a:tr h="731520">
                <a:tc>
                  <a:txBody>
                    <a:bodyPr/>
                    <a:lstStyle/>
                    <a:p>
                      <a:pPr algn="l">
                        <a:defRPr sz="1100">
                          <a:solidFill>
                            <a:srgbClr val="FFFFFF"/>
                          </a:solidFill>
                          <a:latin typeface="Calibri"/>
                        </a:defRPr>
                      </a:pPr>
                      <a:r>
                        <a:t>patients</a:t>
                      </a:r>
                    </a:p>
                  </a:txBody>
                  <a:tcPr>
                    <a:solidFill>
                      <a:srgbClr val="25253A"/>
                    </a:solidFill>
                  </a:tcPr>
                </a:tc>
                <a:tc>
                  <a:txBody>
                    <a:bodyPr/>
                    <a:lstStyle/>
                    <a:p>
                      <a:pPr algn="l">
                        <a:defRPr sz="1100">
                          <a:solidFill>
                            <a:srgbClr val="FFFFFF"/>
                          </a:solidFill>
                          <a:latin typeface="Calibri"/>
                        </a:defRPr>
                      </a:pPr>
                      <a:r>
                        <a:t>name, age, gender,</a:t>
                      </a:r>
                    </a:p>
                    <a:p>
                      <a:pPr algn="l">
                        <a:defRPr sz="1100">
                          <a:solidFill>
                            <a:srgbClr val="FFFFFF"/>
                          </a:solidFill>
                          <a:latin typeface="Calibri"/>
                        </a:defRPr>
                      </a:pPr>
                      <a:r>
                        <a:t>contact, email, medical_history</a:t>
                      </a:r>
                    </a:p>
                  </a:txBody>
                  <a:tcPr>
                    <a:solidFill>
                      <a:srgbClr val="25253A"/>
                    </a:solidFill>
                  </a:tcPr>
                </a:tc>
                <a:tc>
                  <a:txBody>
                    <a:bodyPr/>
                    <a:lstStyle/>
                    <a:p>
                      <a:pPr algn="l">
                        <a:defRPr sz="1100">
                          <a:solidFill>
                            <a:srgbClr val="FFFFFF"/>
                          </a:solidFill>
                          <a:latin typeface="Calibri"/>
                        </a:defRPr>
                      </a:pPr>
                      <a:r>
                        <a:t>name (ASC)</a:t>
                      </a:r>
                    </a:p>
                    <a:p>
                      <a:pPr algn="l">
                        <a:defRPr sz="1100">
                          <a:solidFill>
                            <a:srgbClr val="FFFFFF"/>
                          </a:solidFill>
                          <a:latin typeface="Calibri"/>
                        </a:defRPr>
                      </a:pPr>
                      <a:r>
                        <a:t>contact (UNIQUE)</a:t>
                      </a:r>
                    </a:p>
                  </a:txBody>
                  <a:tcPr>
                    <a:solidFill>
                      <a:srgbClr val="25253A"/>
                    </a:solidFill>
                  </a:tcPr>
                </a:tc>
                <a:tc>
                  <a:txBody>
                    <a:bodyPr/>
                    <a:lstStyle/>
                    <a:p>
                      <a:pPr algn="l">
                        <a:defRPr sz="1100">
                          <a:solidFill>
                            <a:srgbClr val="FFFFFF"/>
                          </a:solidFill>
                          <a:latin typeface="Calibri"/>
                        </a:defRPr>
                      </a:pPr>
                      <a:r>
                        <a:t>NOT NULL, CHECK(age),</a:t>
                      </a:r>
                    </a:p>
                    <a:p>
                      <a:pPr algn="l">
                        <a:defRPr sz="1100">
                          <a:solidFill>
                            <a:srgbClr val="FFFFFF"/>
                          </a:solidFill>
                          <a:latin typeface="Calibri"/>
                        </a:defRPr>
                      </a:pPr>
                      <a:r>
                        <a:t>ENUM(gender), UNIQUE</a:t>
                      </a:r>
                    </a:p>
                  </a:txBody>
                  <a:tcPr>
                    <a:solidFill>
                      <a:srgbClr val="25253A"/>
                    </a:solidFill>
                  </a:tcPr>
                </a:tc>
              </a:tr>
              <a:tr h="731520">
                <a:tc>
                  <a:txBody>
                    <a:bodyPr/>
                    <a:lstStyle/>
                    <a:p>
                      <a:pPr algn="l">
                        <a:defRPr sz="1100">
                          <a:solidFill>
                            <a:srgbClr val="FFFFFF"/>
                          </a:solidFill>
                          <a:latin typeface="Calibri"/>
                        </a:defRPr>
                      </a:pPr>
                      <a:r>
                        <a:t>lab_tests</a:t>
                      </a:r>
                    </a:p>
                  </a:txBody>
                  <a:tcPr>
                    <a:solidFill>
                      <a:srgbClr val="1A1A2E"/>
                    </a:solidFill>
                  </a:tcPr>
                </a:tc>
                <a:tc>
                  <a:txBody>
                    <a:bodyPr/>
                    <a:lstStyle/>
                    <a:p>
                      <a:pPr algn="l">
                        <a:defRPr sz="1100">
                          <a:solidFill>
                            <a:srgbClr val="FFFFFF"/>
                          </a:solidFill>
                          <a:latin typeface="Calibri"/>
                        </a:defRPr>
                      </a:pPr>
                      <a:r>
                        <a:t>test_name, category, unit,</a:t>
                      </a:r>
                    </a:p>
                    <a:p>
                      <a:pPr algn="l">
                        <a:defRPr sz="1100">
                          <a:solidFill>
                            <a:srgbClr val="FFFFFF"/>
                          </a:solidFill>
                          <a:latin typeface="Calibri"/>
                        </a:defRPr>
                      </a:pPr>
                      <a:r>
                        <a:t>normal_range, cost, TAT</a:t>
                      </a:r>
                    </a:p>
                  </a:txBody>
                  <a:tcPr>
                    <a:solidFill>
                      <a:srgbClr val="1A1A2E"/>
                    </a:solidFill>
                  </a:tcPr>
                </a:tc>
                <a:tc>
                  <a:txBody>
                    <a:bodyPr/>
                    <a:lstStyle/>
                    <a:p>
                      <a:pPr algn="l">
                        <a:defRPr sz="1100">
                          <a:solidFill>
                            <a:srgbClr val="FFFFFF"/>
                          </a:solidFill>
                          <a:latin typeface="Calibri"/>
                        </a:defRPr>
                      </a:pPr>
                      <a:r>
                        <a:t>test_name (UNIQUE)</a:t>
                      </a:r>
                    </a:p>
                    <a:p>
                      <a:pPr algn="l">
                        <a:defRPr sz="1100">
                          <a:solidFill>
                            <a:srgbClr val="FFFFFF"/>
                          </a:solidFill>
                          <a:latin typeface="Calibri"/>
                        </a:defRPr>
                      </a:pPr>
                      <a:r>
                        <a:t>category (ASC)</a:t>
                      </a:r>
                    </a:p>
                  </a:txBody>
                  <a:tcPr>
                    <a:solidFill>
                      <a:srgbClr val="1A1A2E"/>
                    </a:solidFill>
                  </a:tcPr>
                </a:tc>
                <a:tc>
                  <a:txBody>
                    <a:bodyPr/>
                    <a:lstStyle/>
                    <a:p>
                      <a:pPr algn="l">
                        <a:defRPr sz="1100">
                          <a:solidFill>
                            <a:srgbClr val="FFFFFF"/>
                          </a:solidFill>
                          <a:latin typeface="Calibri"/>
                        </a:defRPr>
                      </a:pPr>
                      <a:r>
                        <a:t>NOT NULL, UNIQUE,</a:t>
                      </a:r>
                    </a:p>
                    <a:p>
                      <a:pPr algn="l">
                        <a:defRPr sz="1100">
                          <a:solidFill>
                            <a:srgbClr val="FFFFFF"/>
                          </a:solidFill>
                          <a:latin typeface="Calibri"/>
                        </a:defRPr>
                      </a:pPr>
                      <a:r>
                        <a:t>ENUM(category), CHECK(cost≥0)</a:t>
                      </a:r>
                    </a:p>
                  </a:txBody>
                  <a:tcPr>
                    <a:solidFill>
                      <a:srgbClr val="1A1A2E"/>
                    </a:solidFill>
                  </a:tcPr>
                </a:tc>
              </a:tr>
              <a:tr h="731520">
                <a:tc>
                  <a:txBody>
                    <a:bodyPr/>
                    <a:lstStyle/>
                    <a:p>
                      <a:pPr algn="l">
                        <a:defRPr sz="1100">
                          <a:solidFill>
                            <a:srgbClr val="FFFFFF"/>
                          </a:solidFill>
                          <a:latin typeface="Calibri"/>
                        </a:defRPr>
                      </a:pPr>
                      <a:r>
                        <a:t>lab_orders</a:t>
                      </a:r>
                    </a:p>
                  </a:txBody>
                  <a:tcPr>
                    <a:solidFill>
                      <a:srgbClr val="25253A"/>
                    </a:solidFill>
                  </a:tcPr>
                </a:tc>
                <a:tc>
                  <a:txBody>
                    <a:bodyPr/>
                    <a:lstStyle/>
                    <a:p>
                      <a:pPr algn="l">
                        <a:defRPr sz="1100">
                          <a:solidFill>
                            <a:srgbClr val="FFFFFF"/>
                          </a:solidFill>
                          <a:latin typeface="Calibri"/>
                        </a:defRPr>
                      </a:pPr>
                      <a:r>
                        <a:t>patient_id, test_id, status,</a:t>
                      </a:r>
                    </a:p>
                    <a:p>
                      <a:pPr algn="l">
                        <a:defRPr sz="1100">
                          <a:solidFill>
                            <a:srgbClr val="FFFFFF"/>
                          </a:solidFill>
                          <a:latin typeface="Calibri"/>
                        </a:defRPr>
                      </a:pPr>
                      <a:r>
                        <a:t>priority, result_value, dates</a:t>
                      </a:r>
                    </a:p>
                  </a:txBody>
                  <a:tcPr>
                    <a:solidFill>
                      <a:srgbClr val="25253A"/>
                    </a:solidFill>
                  </a:tcPr>
                </a:tc>
                <a:tc>
                  <a:txBody>
                    <a:bodyPr/>
                    <a:lstStyle/>
                    <a:p>
                      <a:pPr algn="l">
                        <a:defRPr sz="1100">
                          <a:solidFill>
                            <a:srgbClr val="FFFFFF"/>
                          </a:solidFill>
                          <a:latin typeface="Calibri"/>
                        </a:defRPr>
                      </a:pPr>
                      <a:r>
                        <a:t>patient_id, test_id,</a:t>
                      </a:r>
                    </a:p>
                    <a:p>
                      <a:pPr algn="l">
                        <a:defRPr sz="1100">
                          <a:solidFill>
                            <a:srgbClr val="FFFFFF"/>
                          </a:solidFill>
                          <a:latin typeface="Calibri"/>
                        </a:defRPr>
                      </a:pPr>
                      <a:r>
                        <a:t>status, ordered_at</a:t>
                      </a:r>
                    </a:p>
                  </a:txBody>
                  <a:tcPr>
                    <a:solidFill>
                      <a:srgbClr val="25253A"/>
                    </a:solidFill>
                  </a:tcPr>
                </a:tc>
                <a:tc>
                  <a:txBody>
                    <a:bodyPr/>
                    <a:lstStyle/>
                    <a:p>
                      <a:pPr algn="l">
                        <a:defRPr sz="1100">
                          <a:solidFill>
                            <a:srgbClr val="FFFFFF"/>
                          </a:solidFill>
                          <a:latin typeface="Calibri"/>
                        </a:defRPr>
                      </a:pPr>
                      <a:r>
                        <a:t>FK(patient_id→patients),</a:t>
                      </a:r>
                    </a:p>
                    <a:p>
                      <a:pPr algn="l">
                        <a:defRPr sz="1100">
                          <a:solidFill>
                            <a:srgbClr val="FFFFFF"/>
                          </a:solidFill>
                          <a:latin typeface="Calibri"/>
                        </a:defRPr>
                      </a:pPr>
                      <a:r>
                        <a:t>FK(test_id→lab_tests),</a:t>
                      </a:r>
                    </a:p>
                    <a:p>
                      <a:pPr algn="l">
                        <a:defRPr sz="1100">
                          <a:solidFill>
                            <a:srgbClr val="FFFFFF"/>
                          </a:solidFill>
                          <a:latin typeface="Calibri"/>
                        </a:defRPr>
                      </a:pPr>
                      <a:r>
                        <a:t>ENUM(status, priority)</a:t>
                      </a:r>
                    </a:p>
                  </a:txBody>
                  <a:tcPr>
                    <a:solidFill>
                      <a:srgbClr val="25253A"/>
                    </a:solidFill>
                  </a:tcPr>
                </a:tc>
              </a:tr>
              <a:tr h="731520">
                <a:tc>
                  <a:txBody>
                    <a:bodyPr/>
                    <a:lstStyle/>
                    <a:p>
                      <a:pPr algn="l">
                        <a:defRPr sz="1100">
                          <a:solidFill>
                            <a:srgbClr val="FFFFFF"/>
                          </a:solidFill>
                          <a:latin typeface="Calibri"/>
                        </a:defRPr>
                      </a:pPr>
                      <a:r>
                        <a:t>alerts</a:t>
                      </a:r>
                    </a:p>
                  </a:txBody>
                  <a:tcPr>
                    <a:solidFill>
                      <a:srgbClr val="1A1A2E"/>
                    </a:solidFill>
                  </a:tcPr>
                </a:tc>
                <a:tc>
                  <a:txBody>
                    <a:bodyPr/>
                    <a:lstStyle/>
                    <a:p>
                      <a:pPr algn="l">
                        <a:defRPr sz="1100">
                          <a:solidFill>
                            <a:srgbClr val="FFFFFF"/>
                          </a:solidFill>
                          <a:latin typeface="Calibri"/>
                        </a:defRPr>
                      </a:pPr>
                      <a:r>
                        <a:t>order_id, alert_type,</a:t>
                      </a:r>
                    </a:p>
                    <a:p>
                      <a:pPr algn="l">
                        <a:defRPr sz="1100">
                          <a:solidFill>
                            <a:srgbClr val="FFFFFF"/>
                          </a:solidFill>
                          <a:latin typeface="Calibri"/>
                        </a:defRPr>
                      </a:pPr>
                      <a:r>
                        <a:t>severity, message, resolved</a:t>
                      </a:r>
                    </a:p>
                  </a:txBody>
                  <a:tcPr>
                    <a:solidFill>
                      <a:srgbClr val="1A1A2E"/>
                    </a:solidFill>
                  </a:tcPr>
                </a:tc>
                <a:tc>
                  <a:txBody>
                    <a:bodyPr/>
                    <a:lstStyle/>
                    <a:p>
                      <a:pPr algn="l">
                        <a:defRPr sz="1100">
                          <a:solidFill>
                            <a:srgbClr val="FFFFFF"/>
                          </a:solidFill>
                          <a:latin typeface="Calibri"/>
                        </a:defRPr>
                      </a:pPr>
                      <a:r>
                        <a:t>order_id (ASC)</a:t>
                      </a:r>
                    </a:p>
                    <a:p>
                      <a:pPr algn="l">
                        <a:defRPr sz="1100">
                          <a:solidFill>
                            <a:srgbClr val="FFFFFF"/>
                          </a:solidFill>
                          <a:latin typeface="Calibri"/>
                        </a:defRPr>
                      </a:pPr>
                      <a:r>
                        <a:t>resolved (ASC)</a:t>
                      </a:r>
                    </a:p>
                  </a:txBody>
                  <a:tcPr>
                    <a:solidFill>
                      <a:srgbClr val="1A1A2E"/>
                    </a:solidFill>
                  </a:tcPr>
                </a:tc>
                <a:tc>
                  <a:txBody>
                    <a:bodyPr/>
                    <a:lstStyle/>
                    <a:p>
                      <a:pPr algn="l">
                        <a:defRPr sz="1100">
                          <a:solidFill>
                            <a:srgbClr val="FFFFFF"/>
                          </a:solidFill>
                          <a:latin typeface="Calibri"/>
                        </a:defRPr>
                      </a:pPr>
                      <a:r>
                        <a:t>FK(order_id→lab_orders),</a:t>
                      </a:r>
                    </a:p>
                    <a:p>
                      <a:pPr algn="l">
                        <a:defRPr sz="1100">
                          <a:solidFill>
                            <a:srgbClr val="FFFFFF"/>
                          </a:solidFill>
                          <a:latin typeface="Calibri"/>
                        </a:defRPr>
                      </a:pPr>
                      <a:r>
                        <a:t>ENUM(type, severity)</a:t>
                      </a:r>
                    </a:p>
                  </a:txBody>
                  <a:tcPr>
                    <a:solidFill>
                      <a:srgbClr val="1A1A2E"/>
                    </a:solidFill>
                  </a:tcPr>
                </a:tc>
              </a:tr>
            </a:tbl>
          </a:graphicData>
        </a:graphic>
      </p:graphicFrame>
      <p:sp>
        <p:nvSpPr>
          <p:cNvPr id="6" name="TextBox 5"/>
          <p:cNvSpPr txBox="1"/>
          <p:nvPr/>
        </p:nvSpPr>
        <p:spPr>
          <a:xfrm>
            <a:off x="731520" y="5852160"/>
            <a:ext cx="7315200" cy="457200"/>
          </a:xfrm>
          <a:prstGeom prst="rect">
            <a:avLst/>
          </a:prstGeom>
          <a:noFill/>
        </p:spPr>
        <p:txBody>
          <a:bodyPr wrap="square">
            <a:spAutoFit/>
          </a:bodyPr>
          <a:lstStyle/>
          <a:p>
            <a:pPr algn="l">
              <a:defRPr sz="1300" b="1">
                <a:solidFill>
                  <a:srgbClr val="0096D6"/>
                </a:solidFill>
                <a:latin typeface="Calibri"/>
              </a:defRPr>
            </a:pPr>
            <a:r>
              <a:t>Relationships:   patients ──&lt; lab_orders &gt;── lab_tests    |    lab_orders ──&lt; alerts</a:t>
            </a:r>
          </a:p>
        </p:txBody>
      </p:sp>
      <p:sp>
        <p:nvSpPr>
          <p:cNvPr id="7" name="TextBox 6"/>
          <p:cNvSpPr txBox="1"/>
          <p:nvPr/>
        </p:nvSpPr>
        <p:spPr>
          <a:xfrm>
            <a:off x="7772400" y="6400800"/>
            <a:ext cx="1097280" cy="365760"/>
          </a:xfrm>
          <a:prstGeom prst="rect">
            <a:avLst/>
          </a:prstGeom>
          <a:noFill/>
        </p:spPr>
        <p:txBody>
          <a:bodyPr wrap="square">
            <a:spAutoFit/>
          </a:bodyPr>
          <a:lstStyle/>
          <a:p>
            <a:pPr algn="r">
              <a:defRPr sz="1000" b="0">
                <a:solidFill>
                  <a:srgbClr val="CCCCCC"/>
                </a:solidFill>
                <a:latin typeface="Calibri"/>
              </a:defRPr>
            </a:pPr>
            <a:r>
              <a:t>5 / 10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731520" y="457200"/>
            <a:ext cx="7315200" cy="731520"/>
          </a:xfrm>
          <a:prstGeom prst="rect">
            <a:avLst/>
          </a:prstGeom>
          <a:noFill/>
        </p:spPr>
        <p:txBody>
          <a:bodyPr wrap="square">
            <a:spAutoFit/>
          </a:bodyPr>
          <a:lstStyle/>
          <a:p>
            <a:pPr algn="l">
              <a:defRPr sz="3200" b="1">
                <a:solidFill>
                  <a:srgbClr val="0096D6"/>
                </a:solidFill>
                <a:latin typeface="Calibri"/>
              </a:defRPr>
            </a:pPr>
            <a:r>
              <a:t>SQL → MongoDB Mapping</a:t>
            </a:r>
          </a:p>
        </p:txBody>
      </p:sp>
      <p:sp>
        <p:nvSpPr>
          <p:cNvPr id="3" name="Rectangle 2"/>
          <p:cNvSpPr/>
          <p:nvPr/>
        </p:nvSpPr>
        <p:spPr>
          <a:xfrm>
            <a:off x="731520" y="1097280"/>
            <a:ext cx="1828800" cy="50800"/>
          </a:xfrm>
          <a:prstGeom prst="rect">
            <a:avLst/>
          </a:prstGeom>
          <a:solidFill>
            <a:srgbClr val="0096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274320" y="1371600"/>
          <a:ext cx="8595360" cy="5029200"/>
        </p:xfrm>
        <a:graphic>
          <a:graphicData uri="http://schemas.openxmlformats.org/drawingml/2006/table">
            <a:tbl>
              <a:tblPr firstRow="1" bandRow="1">
                <a:tableStyleId>{5C22544A-7EE6-4342-B048-85BDC9FD1C3A}</a:tableStyleId>
              </a:tblPr>
              <a:tblGrid>
                <a:gridCol w="2865120"/>
                <a:gridCol w="2865120"/>
                <a:gridCol w="2865120"/>
              </a:tblGrid>
              <a:tr h="457200">
                <a:tc>
                  <a:txBody>
                    <a:bodyPr/>
                    <a:lstStyle/>
                    <a:p>
                      <a:pPr algn="ctr">
                        <a:defRPr sz="1300" b="1">
                          <a:solidFill>
                            <a:srgbClr val="FFFFFF"/>
                          </a:solidFill>
                          <a:latin typeface="Calibri"/>
                        </a:defRPr>
                      </a:pPr>
                      <a:r>
                        <a:t>SQL Concept</a:t>
                      </a:r>
                    </a:p>
                  </a:txBody>
                  <a:tcPr>
                    <a:solidFill>
                      <a:srgbClr val="0096D6"/>
                    </a:solidFill>
                  </a:tcPr>
                </a:tc>
                <a:tc>
                  <a:txBody>
                    <a:bodyPr/>
                    <a:lstStyle/>
                    <a:p>
                      <a:pPr algn="ctr">
                        <a:defRPr sz="1300" b="1">
                          <a:solidFill>
                            <a:srgbClr val="FFFFFF"/>
                          </a:solidFill>
                          <a:latin typeface="Calibri"/>
                        </a:defRPr>
                      </a:pPr>
                      <a:r>
                        <a:t>MongoDB Equivalent</a:t>
                      </a:r>
                    </a:p>
                  </a:txBody>
                  <a:tcPr>
                    <a:solidFill>
                      <a:srgbClr val="0096D6"/>
                    </a:solidFill>
                  </a:tcPr>
                </a:tc>
                <a:tc>
                  <a:txBody>
                    <a:bodyPr/>
                    <a:lstStyle/>
                    <a:p>
                      <a:pPr algn="ctr">
                        <a:defRPr sz="1300" b="1">
                          <a:solidFill>
                            <a:srgbClr val="FFFFFF"/>
                          </a:solidFill>
                          <a:latin typeface="Calibri"/>
                        </a:defRPr>
                      </a:pPr>
                      <a:r>
                        <a:t>Our Implementation</a:t>
                      </a:r>
                    </a:p>
                  </a:txBody>
                  <a:tcPr>
                    <a:solidFill>
                      <a:srgbClr val="0096D6"/>
                    </a:solidFill>
                  </a:tcPr>
                </a:tc>
              </a:tr>
              <a:tr h="457200">
                <a:tc>
                  <a:txBody>
                    <a:bodyPr/>
                    <a:lstStyle/>
                    <a:p>
                      <a:pPr algn="l">
                        <a:defRPr sz="1100">
                          <a:solidFill>
                            <a:srgbClr val="FFFFFF"/>
                          </a:solidFill>
                          <a:latin typeface="Calibri"/>
                        </a:defRPr>
                      </a:pPr>
                      <a:r>
                        <a:t>CREATE TABLE</a:t>
                      </a:r>
                    </a:p>
                  </a:txBody>
                  <a:tcPr>
                    <a:solidFill>
                      <a:srgbClr val="25253A"/>
                    </a:solidFill>
                  </a:tcPr>
                </a:tc>
                <a:tc>
                  <a:txBody>
                    <a:bodyPr/>
                    <a:lstStyle/>
                    <a:p>
                      <a:pPr algn="l">
                        <a:defRPr sz="1100">
                          <a:solidFill>
                            <a:srgbClr val="FFFFFF"/>
                          </a:solidFill>
                          <a:latin typeface="Calibri"/>
                        </a:defRPr>
                      </a:pPr>
                      <a:r>
                        <a:t>create_collection() +</a:t>
                      </a:r>
                    </a:p>
                    <a:p>
                      <a:pPr algn="l">
                        <a:defRPr sz="1100">
                          <a:solidFill>
                            <a:srgbClr val="FFFFFF"/>
                          </a:solidFill>
                          <a:latin typeface="Calibri"/>
                        </a:defRPr>
                      </a:pPr>
                      <a:r>
                        <a:t>JSON Schema Validator</a:t>
                      </a:r>
                    </a:p>
                  </a:txBody>
                  <a:tcPr>
                    <a:solidFill>
                      <a:srgbClr val="25253A"/>
                    </a:solidFill>
                  </a:tcPr>
                </a:tc>
                <a:tc>
                  <a:txBody>
                    <a:bodyPr/>
                    <a:lstStyle/>
                    <a:p>
                      <a:pPr algn="l">
                        <a:defRPr sz="1100">
                          <a:solidFill>
                            <a:srgbClr val="FFFFFF"/>
                          </a:solidFill>
                          <a:latin typeface="Calibri"/>
                        </a:defRPr>
                      </a:pPr>
                      <a:r>
                        <a:t>mongo_connection.py</a:t>
                      </a:r>
                    </a:p>
                    <a:p>
                      <a:pPr algn="l">
                        <a:defRPr sz="1100">
                          <a:solidFill>
                            <a:srgbClr val="FFFFFF"/>
                          </a:solidFill>
                          <a:latin typeface="Calibri"/>
                        </a:defRPr>
                      </a:pPr>
                      <a:r>
                        <a:t>setup_collections()</a:t>
                      </a:r>
                    </a:p>
                  </a:txBody>
                  <a:tcPr>
                    <a:solidFill>
                      <a:srgbClr val="25253A"/>
                    </a:solidFill>
                  </a:tcPr>
                </a:tc>
              </a:tr>
              <a:tr h="457200">
                <a:tc>
                  <a:txBody>
                    <a:bodyPr/>
                    <a:lstStyle/>
                    <a:p>
                      <a:pPr algn="l">
                        <a:defRPr sz="1100">
                          <a:solidFill>
                            <a:srgbClr val="FFFFFF"/>
                          </a:solidFill>
                          <a:latin typeface="Calibri"/>
                        </a:defRPr>
                      </a:pPr>
                      <a:r>
                        <a:t>INSERT INTO</a:t>
                      </a:r>
                    </a:p>
                  </a:txBody>
                  <a:tcPr>
                    <a:solidFill>
                      <a:srgbClr val="1A1A2E"/>
                    </a:solidFill>
                  </a:tcPr>
                </a:tc>
                <a:tc>
                  <a:txBody>
                    <a:bodyPr/>
                    <a:lstStyle/>
                    <a:p>
                      <a:pPr algn="l">
                        <a:defRPr sz="1100">
                          <a:solidFill>
                            <a:srgbClr val="FFFFFF"/>
                          </a:solidFill>
                          <a:latin typeface="Calibri"/>
                        </a:defRPr>
                      </a:pPr>
                      <a:r>
                        <a:t>insert_one({...})</a:t>
                      </a:r>
                    </a:p>
                  </a:txBody>
                  <a:tcPr>
                    <a:solidFill>
                      <a:srgbClr val="1A1A2E"/>
                    </a:solidFill>
                  </a:tcPr>
                </a:tc>
                <a:tc>
                  <a:txBody>
                    <a:bodyPr/>
                    <a:lstStyle/>
                    <a:p>
                      <a:pPr algn="l">
                        <a:defRPr sz="1100">
                          <a:solidFill>
                            <a:srgbClr val="FFFFFF"/>
                          </a:solidFill>
                          <a:latin typeface="Calibri"/>
                        </a:defRPr>
                      </a:pPr>
                      <a:r>
                        <a:t>patient_model.py</a:t>
                      </a:r>
                    </a:p>
                    <a:p>
                      <a:pPr algn="l">
                        <a:defRPr sz="1100">
                          <a:solidFill>
                            <a:srgbClr val="FFFFFF"/>
                          </a:solidFill>
                          <a:latin typeface="Calibri"/>
                        </a:defRPr>
                      </a:pPr>
                      <a:r>
                        <a:t>create_patient()</a:t>
                      </a:r>
                    </a:p>
                  </a:txBody>
                  <a:tcPr>
                    <a:solidFill>
                      <a:srgbClr val="1A1A2E"/>
                    </a:solidFill>
                  </a:tcPr>
                </a:tc>
              </a:tr>
              <a:tr h="457200">
                <a:tc>
                  <a:txBody>
                    <a:bodyPr/>
                    <a:lstStyle/>
                    <a:p>
                      <a:pPr algn="l">
                        <a:defRPr sz="1100">
                          <a:solidFill>
                            <a:srgbClr val="FFFFFF"/>
                          </a:solidFill>
                          <a:latin typeface="Calibri"/>
                        </a:defRPr>
                      </a:pPr>
                      <a:r>
                        <a:t>SELECT … WHERE</a:t>
                      </a:r>
                    </a:p>
                  </a:txBody>
                  <a:tcPr>
                    <a:solidFill>
                      <a:srgbClr val="25253A"/>
                    </a:solidFill>
                  </a:tcPr>
                </a:tc>
                <a:tc>
                  <a:txBody>
                    <a:bodyPr/>
                    <a:lstStyle/>
                    <a:p>
                      <a:pPr algn="l">
                        <a:defRPr sz="1100">
                          <a:solidFill>
                            <a:srgbClr val="FFFFFF"/>
                          </a:solidFill>
                          <a:latin typeface="Calibri"/>
                        </a:defRPr>
                      </a:pPr>
                      <a:r>
                        <a:t>find({filter})</a:t>
                      </a:r>
                    </a:p>
                  </a:txBody>
                  <a:tcPr>
                    <a:solidFill>
                      <a:srgbClr val="25253A"/>
                    </a:solidFill>
                  </a:tcPr>
                </a:tc>
                <a:tc>
                  <a:txBody>
                    <a:bodyPr/>
                    <a:lstStyle/>
                    <a:p>
                      <a:pPr algn="l">
                        <a:defRPr sz="1100">
                          <a:solidFill>
                            <a:srgbClr val="FFFFFF"/>
                          </a:solidFill>
                          <a:latin typeface="Calibri"/>
                        </a:defRPr>
                      </a:pPr>
                      <a:r>
                        <a:t>All model files</a:t>
                      </a:r>
                    </a:p>
                    <a:p>
                      <a:pPr algn="l">
                        <a:defRPr sz="1100">
                          <a:solidFill>
                            <a:srgbClr val="FFFFFF"/>
                          </a:solidFill>
                          <a:latin typeface="Calibri"/>
                        </a:defRPr>
                      </a:pPr>
                      <a:r>
                        <a:t>get_by_id(), search()</a:t>
                      </a:r>
                    </a:p>
                  </a:txBody>
                  <a:tcPr>
                    <a:solidFill>
                      <a:srgbClr val="25253A"/>
                    </a:solidFill>
                  </a:tcPr>
                </a:tc>
              </a:tr>
              <a:tr h="457200">
                <a:tc>
                  <a:txBody>
                    <a:bodyPr/>
                    <a:lstStyle/>
                    <a:p>
                      <a:pPr algn="l">
                        <a:defRPr sz="1100">
                          <a:solidFill>
                            <a:srgbClr val="FFFFFF"/>
                          </a:solidFill>
                          <a:latin typeface="Calibri"/>
                        </a:defRPr>
                      </a:pPr>
                      <a:r>
                        <a:t>UPDATE … SET</a:t>
                      </a:r>
                    </a:p>
                  </a:txBody>
                  <a:tcPr>
                    <a:solidFill>
                      <a:srgbClr val="1A1A2E"/>
                    </a:solidFill>
                  </a:tcPr>
                </a:tc>
                <a:tc>
                  <a:txBody>
                    <a:bodyPr/>
                    <a:lstStyle/>
                    <a:p>
                      <a:pPr algn="l">
                        <a:defRPr sz="1100">
                          <a:solidFill>
                            <a:srgbClr val="FFFFFF"/>
                          </a:solidFill>
                          <a:latin typeface="Calibri"/>
                        </a:defRPr>
                      </a:pPr>
                      <a:r>
                        <a:t>update_one({$set: {...}})</a:t>
                      </a:r>
                    </a:p>
                  </a:txBody>
                  <a:tcPr>
                    <a:solidFill>
                      <a:srgbClr val="1A1A2E"/>
                    </a:solidFill>
                  </a:tcPr>
                </a:tc>
                <a:tc>
                  <a:txBody>
                    <a:bodyPr/>
                    <a:lstStyle/>
                    <a:p>
                      <a:pPr algn="l">
                        <a:defRPr sz="1100">
                          <a:solidFill>
                            <a:srgbClr val="FFFFFF"/>
                          </a:solidFill>
                          <a:latin typeface="Calibri"/>
                        </a:defRPr>
                      </a:pPr>
                      <a:r>
                        <a:t>update_patient()</a:t>
                      </a:r>
                    </a:p>
                    <a:p>
                      <a:pPr algn="l">
                        <a:defRPr sz="1100">
                          <a:solidFill>
                            <a:srgbClr val="FFFFFF"/>
                          </a:solidFill>
                          <a:latin typeface="Calibri"/>
                        </a:defRPr>
                      </a:pPr>
                      <a:r>
                        <a:t>update_order_status()</a:t>
                      </a:r>
                    </a:p>
                  </a:txBody>
                  <a:tcPr>
                    <a:solidFill>
                      <a:srgbClr val="1A1A2E"/>
                    </a:solidFill>
                  </a:tcPr>
                </a:tc>
              </a:tr>
              <a:tr h="457200">
                <a:tc>
                  <a:txBody>
                    <a:bodyPr/>
                    <a:lstStyle/>
                    <a:p>
                      <a:pPr algn="l">
                        <a:defRPr sz="1100">
                          <a:solidFill>
                            <a:srgbClr val="FFFFFF"/>
                          </a:solidFill>
                          <a:latin typeface="Calibri"/>
                        </a:defRPr>
                      </a:pPr>
                      <a:r>
                        <a:t>JOIN … ON</a:t>
                      </a:r>
                    </a:p>
                  </a:txBody>
                  <a:tcPr>
                    <a:solidFill>
                      <a:srgbClr val="25253A"/>
                    </a:solidFill>
                  </a:tcPr>
                </a:tc>
                <a:tc>
                  <a:txBody>
                    <a:bodyPr/>
                    <a:lstStyle/>
                    <a:p>
                      <a:pPr algn="l">
                        <a:defRPr sz="1100">
                          <a:solidFill>
                            <a:srgbClr val="FFFFFF"/>
                          </a:solidFill>
                          <a:latin typeface="Calibri"/>
                        </a:defRPr>
                      </a:pPr>
                      <a:r>
                        <a:t>$lookup aggregation stage</a:t>
                      </a:r>
                    </a:p>
                  </a:txBody>
                  <a:tcPr>
                    <a:solidFill>
                      <a:srgbClr val="25253A"/>
                    </a:solidFill>
                  </a:tcPr>
                </a:tc>
                <a:tc>
                  <a:txBody>
                    <a:bodyPr/>
                    <a:lstStyle/>
                    <a:p>
                      <a:pPr algn="l">
                        <a:defRPr sz="1100">
                          <a:solidFill>
                            <a:srgbClr val="FFFFFF"/>
                          </a:solidFill>
                          <a:latin typeface="Calibri"/>
                        </a:defRPr>
                      </a:pPr>
                      <a:r>
                        <a:t>report_queries.py</a:t>
                      </a:r>
                    </a:p>
                    <a:p>
                      <a:pPr algn="l">
                        <a:defRPr sz="1100">
                          <a:solidFill>
                            <a:srgbClr val="FFFFFF"/>
                          </a:solidFill>
                          <a:latin typeface="Calibri"/>
                        </a:defRPr>
                      </a:pPr>
                      <a:r>
                        <a:t>turnaround_service.py</a:t>
                      </a:r>
                    </a:p>
                  </a:txBody>
                  <a:tcPr>
                    <a:solidFill>
                      <a:srgbClr val="25253A"/>
                    </a:solidFill>
                  </a:tcPr>
                </a:tc>
              </a:tr>
              <a:tr h="457200">
                <a:tc>
                  <a:txBody>
                    <a:bodyPr/>
                    <a:lstStyle/>
                    <a:p>
                      <a:pPr algn="l">
                        <a:defRPr sz="1100">
                          <a:solidFill>
                            <a:srgbClr val="FFFFFF"/>
                          </a:solidFill>
                          <a:latin typeface="Calibri"/>
                        </a:defRPr>
                      </a:pPr>
                      <a:r>
                        <a:t>GROUP BY + COUNT</a:t>
                      </a:r>
                    </a:p>
                  </a:txBody>
                  <a:tcPr>
                    <a:solidFill>
                      <a:srgbClr val="1A1A2E"/>
                    </a:solidFill>
                  </a:tcPr>
                </a:tc>
                <a:tc>
                  <a:txBody>
                    <a:bodyPr/>
                    <a:lstStyle/>
                    <a:p>
                      <a:pPr algn="l">
                        <a:defRPr sz="1100">
                          <a:solidFill>
                            <a:srgbClr val="FFFFFF"/>
                          </a:solidFill>
                          <a:latin typeface="Calibri"/>
                        </a:defRPr>
                      </a:pPr>
                      <a:r>
                        <a:t>$group + $sum</a:t>
                      </a:r>
                    </a:p>
                  </a:txBody>
                  <a:tcPr>
                    <a:solidFill>
                      <a:srgbClr val="1A1A2E"/>
                    </a:solidFill>
                  </a:tcPr>
                </a:tc>
                <a:tc>
                  <a:txBody>
                    <a:bodyPr/>
                    <a:lstStyle/>
                    <a:p>
                      <a:pPr algn="l">
                        <a:defRPr sz="1100">
                          <a:solidFill>
                            <a:srgbClr val="FFFFFF"/>
                          </a:solidFill>
                          <a:latin typeface="Calibri"/>
                        </a:defRPr>
                      </a:pPr>
                      <a:r>
                        <a:t>analytics_queries.py</a:t>
                      </a:r>
                    </a:p>
                    <a:p>
                      <a:pPr algn="l">
                        <a:defRPr sz="1100">
                          <a:solidFill>
                            <a:srgbClr val="FFFFFF"/>
                          </a:solidFill>
                          <a:latin typeface="Calibri"/>
                        </a:defRPr>
                      </a:pPr>
                      <a:r>
                        <a:t>tests_per_category()</a:t>
                      </a:r>
                    </a:p>
                  </a:txBody>
                  <a:tcPr>
                    <a:solidFill>
                      <a:srgbClr val="1A1A2E"/>
                    </a:solidFill>
                  </a:tcPr>
                </a:tc>
              </a:tr>
              <a:tr h="457200">
                <a:tc>
                  <a:txBody>
                    <a:bodyPr/>
                    <a:lstStyle/>
                    <a:p>
                      <a:pPr algn="l">
                        <a:defRPr sz="1100">
                          <a:solidFill>
                            <a:srgbClr val="FFFFFF"/>
                          </a:solidFill>
                          <a:latin typeface="Calibri"/>
                        </a:defRPr>
                      </a:pPr>
                      <a:r>
                        <a:t>FOREIGN KEY</a:t>
                      </a:r>
                    </a:p>
                  </a:txBody>
                  <a:tcPr>
                    <a:solidFill>
                      <a:srgbClr val="25253A"/>
                    </a:solidFill>
                  </a:tcPr>
                </a:tc>
                <a:tc>
                  <a:txBody>
                    <a:bodyPr/>
                    <a:lstStyle/>
                    <a:p>
                      <a:pPr algn="l">
                        <a:defRPr sz="1100">
                          <a:solidFill>
                            <a:srgbClr val="FFFFFF"/>
                          </a:solidFill>
                          <a:latin typeface="Calibri"/>
                        </a:defRPr>
                      </a:pPr>
                      <a:r>
                        <a:t>Application-level check</a:t>
                      </a:r>
                    </a:p>
                  </a:txBody>
                  <a:tcPr>
                    <a:solidFill>
                      <a:srgbClr val="25253A"/>
                    </a:solidFill>
                  </a:tcPr>
                </a:tc>
                <a:tc>
                  <a:txBody>
                    <a:bodyPr/>
                    <a:lstStyle/>
                    <a:p>
                      <a:pPr algn="l">
                        <a:defRPr sz="1100">
                          <a:solidFill>
                            <a:srgbClr val="FFFFFF"/>
                          </a:solidFill>
                          <a:latin typeface="Calibri"/>
                        </a:defRPr>
                      </a:pPr>
                      <a:r>
                        <a:t>validation_service.py</a:t>
                      </a:r>
                    </a:p>
                    <a:p>
                      <a:pPr algn="l">
                        <a:defRPr sz="1100">
                          <a:solidFill>
                            <a:srgbClr val="FFFFFF"/>
                          </a:solidFill>
                          <a:latin typeface="Calibri"/>
                        </a:defRPr>
                      </a:pPr>
                      <a:r>
                        <a:t>validate_order_data()</a:t>
                      </a:r>
                    </a:p>
                  </a:txBody>
                  <a:tcPr>
                    <a:solidFill>
                      <a:srgbClr val="25253A"/>
                    </a:solidFill>
                  </a:tcPr>
                </a:tc>
              </a:tr>
              <a:tr h="457200">
                <a:tc>
                  <a:txBody>
                    <a:bodyPr/>
                    <a:lstStyle/>
                    <a:p>
                      <a:pPr algn="l">
                        <a:defRPr sz="1100">
                          <a:solidFill>
                            <a:srgbClr val="FFFFFF"/>
                          </a:solidFill>
                          <a:latin typeface="Calibri"/>
                        </a:defRPr>
                      </a:pPr>
                      <a:r>
                        <a:t>BEFORE INSERT</a:t>
                      </a:r>
                    </a:p>
                    <a:p>
                      <a:pPr algn="l">
                        <a:defRPr sz="1100">
                          <a:solidFill>
                            <a:srgbClr val="FFFFFF"/>
                          </a:solidFill>
                          <a:latin typeface="Calibri"/>
                        </a:defRPr>
                      </a:pPr>
                      <a:r>
                        <a:t>Trigger</a:t>
                      </a:r>
                    </a:p>
                  </a:txBody>
                  <a:tcPr>
                    <a:solidFill>
                      <a:srgbClr val="1A1A2E"/>
                    </a:solidFill>
                  </a:tcPr>
                </a:tc>
                <a:tc>
                  <a:txBody>
                    <a:bodyPr/>
                    <a:lstStyle/>
                    <a:p>
                      <a:pPr algn="l">
                        <a:defRPr sz="1100">
                          <a:solidFill>
                            <a:srgbClr val="FFFFFF"/>
                          </a:solidFill>
                          <a:latin typeface="Calibri"/>
                        </a:defRPr>
                      </a:pPr>
                      <a:r>
                        <a:t>Validation function called</a:t>
                      </a:r>
                    </a:p>
                    <a:p>
                      <a:pPr algn="l">
                        <a:defRPr sz="1100">
                          <a:solidFill>
                            <a:srgbClr val="FFFFFF"/>
                          </a:solidFill>
                          <a:latin typeface="Calibri"/>
                        </a:defRPr>
                      </a:pPr>
                      <a:r>
                        <a:t>before insert_one()</a:t>
                      </a:r>
                    </a:p>
                  </a:txBody>
                  <a:tcPr>
                    <a:solidFill>
                      <a:srgbClr val="1A1A2E"/>
                    </a:solidFill>
                  </a:tcPr>
                </a:tc>
                <a:tc>
                  <a:txBody>
                    <a:bodyPr/>
                    <a:lstStyle/>
                    <a:p>
                      <a:pPr algn="l">
                        <a:defRPr sz="1100">
                          <a:solidFill>
                            <a:srgbClr val="FFFFFF"/>
                          </a:solidFill>
                          <a:latin typeface="Calibri"/>
                        </a:defRPr>
                      </a:pPr>
                      <a:r>
                        <a:t>validation_service.py</a:t>
                      </a:r>
                    </a:p>
                  </a:txBody>
                  <a:tcPr>
                    <a:solidFill>
                      <a:srgbClr val="1A1A2E"/>
                    </a:solidFill>
                  </a:tcPr>
                </a:tc>
              </a:tr>
              <a:tr h="457200">
                <a:tc>
                  <a:txBody>
                    <a:bodyPr/>
                    <a:lstStyle/>
                    <a:p>
                      <a:pPr algn="l">
                        <a:defRPr sz="1100">
                          <a:solidFill>
                            <a:srgbClr val="FFFFFF"/>
                          </a:solidFill>
                          <a:latin typeface="Calibri"/>
                        </a:defRPr>
                      </a:pPr>
                      <a:r>
                        <a:t>AFTER UPDATE</a:t>
                      </a:r>
                    </a:p>
                    <a:p>
                      <a:pPr algn="l">
                        <a:defRPr sz="1100">
                          <a:solidFill>
                            <a:srgbClr val="FFFFFF"/>
                          </a:solidFill>
                          <a:latin typeface="Calibri"/>
                        </a:defRPr>
                      </a:pPr>
                      <a:r>
                        <a:t>Trigger</a:t>
                      </a:r>
                    </a:p>
                  </a:txBody>
                  <a:tcPr>
                    <a:solidFill>
                      <a:srgbClr val="25253A"/>
                    </a:solidFill>
                  </a:tcPr>
                </a:tc>
                <a:tc>
                  <a:txBody>
                    <a:bodyPr/>
                    <a:lstStyle/>
                    <a:p>
                      <a:pPr algn="l">
                        <a:defRPr sz="1100">
                          <a:solidFill>
                            <a:srgbClr val="FFFFFF"/>
                          </a:solidFill>
                          <a:latin typeface="Calibri"/>
                        </a:defRPr>
                      </a:pPr>
                      <a:r>
                        <a:t>Function called after</a:t>
                      </a:r>
                    </a:p>
                    <a:p>
                      <a:pPr algn="l">
                        <a:defRPr sz="1100">
                          <a:solidFill>
                            <a:srgbClr val="FFFFFF"/>
                          </a:solidFill>
                          <a:latin typeface="Calibri"/>
                        </a:defRPr>
                      </a:pPr>
                      <a:r>
                        <a:t>update_one()</a:t>
                      </a:r>
                    </a:p>
                  </a:txBody>
                  <a:tcPr>
                    <a:solidFill>
                      <a:srgbClr val="25253A"/>
                    </a:solidFill>
                  </a:tcPr>
                </a:tc>
                <a:tc>
                  <a:txBody>
                    <a:bodyPr/>
                    <a:lstStyle/>
                    <a:p>
                      <a:pPr algn="l">
                        <a:defRPr sz="1100">
                          <a:solidFill>
                            <a:srgbClr val="FFFFFF"/>
                          </a:solidFill>
                          <a:latin typeface="Calibri"/>
                        </a:defRPr>
                      </a:pPr>
                      <a:r>
                        <a:t>alert_service.py</a:t>
                      </a:r>
                    </a:p>
                    <a:p>
                      <a:pPr algn="l">
                        <a:defRPr sz="1100">
                          <a:solidFill>
                            <a:srgbClr val="FFFFFF"/>
                          </a:solidFill>
                          <a:latin typeface="Calibri"/>
                        </a:defRPr>
                      </a:pPr>
                      <a:r>
                        <a:t>trigger_critical_result_alert()</a:t>
                      </a:r>
                    </a:p>
                  </a:txBody>
                  <a:tcPr>
                    <a:solidFill>
                      <a:srgbClr val="25253A"/>
                    </a:solidFill>
                  </a:tcPr>
                </a:tc>
              </a:tr>
              <a:tr h="457200">
                <a:tc>
                  <a:txBody>
                    <a:bodyPr/>
                    <a:lstStyle/>
                    <a:p>
                      <a:pPr algn="l">
                        <a:defRPr sz="1100">
                          <a:solidFill>
                            <a:srgbClr val="FFFFFF"/>
                          </a:solidFill>
                          <a:latin typeface="Calibri"/>
                        </a:defRPr>
                      </a:pPr>
                      <a:r>
                        <a:t>Stored Procedure</a:t>
                      </a:r>
                    </a:p>
                  </a:txBody>
                  <a:tcPr>
                    <a:solidFill>
                      <a:srgbClr val="1A1A2E"/>
                    </a:solidFill>
                  </a:tcPr>
                </a:tc>
                <a:tc>
                  <a:txBody>
                    <a:bodyPr/>
                    <a:lstStyle/>
                    <a:p>
                      <a:pPr algn="l">
                        <a:defRPr sz="1100">
                          <a:solidFill>
                            <a:srgbClr val="FFFFFF"/>
                          </a:solidFill>
                          <a:latin typeface="Calibri"/>
                        </a:defRPr>
                      </a:pPr>
                      <a:r>
                        <a:t>Python function wrapping</a:t>
                      </a:r>
                    </a:p>
                    <a:p>
                      <a:pPr algn="l">
                        <a:defRPr sz="1100">
                          <a:solidFill>
                            <a:srgbClr val="FFFFFF"/>
                          </a:solidFill>
                          <a:latin typeface="Calibri"/>
                        </a:defRPr>
                      </a:pPr>
                      <a:r>
                        <a:t>multiple operations</a:t>
                      </a:r>
                    </a:p>
                  </a:txBody>
                  <a:tcPr>
                    <a:solidFill>
                      <a:srgbClr val="1A1A2E"/>
                    </a:solidFill>
                  </a:tcPr>
                </a:tc>
                <a:tc>
                  <a:txBody>
                    <a:bodyPr/>
                    <a:lstStyle/>
                    <a:p>
                      <a:pPr algn="l">
                        <a:defRPr sz="1100">
                          <a:solidFill>
                            <a:srgbClr val="FFFFFF"/>
                          </a:solidFill>
                          <a:latin typeface="Calibri"/>
                        </a:defRPr>
                      </a:pPr>
                      <a:r>
                        <a:t>order_service.py</a:t>
                      </a:r>
                    </a:p>
                    <a:p>
                      <a:pPr algn="l">
                        <a:defRPr sz="1100">
                          <a:solidFill>
                            <a:srgbClr val="FFFFFF"/>
                          </a:solidFill>
                          <a:latin typeface="Calibri"/>
                        </a:defRPr>
                      </a:pPr>
                      <a:r>
                        <a:t>place_order(), record_result()</a:t>
                      </a:r>
                    </a:p>
                  </a:txBody>
                  <a:tcPr>
                    <a:solidFill>
                      <a:srgbClr val="1A1A2E"/>
                    </a:solidFill>
                  </a:tcPr>
                </a:tc>
              </a:tr>
            </a:tbl>
          </a:graphicData>
        </a:graphic>
      </p:graphicFrame>
      <p:sp>
        <p:nvSpPr>
          <p:cNvPr id="5" name="TextBox 4"/>
          <p:cNvSpPr txBox="1"/>
          <p:nvPr/>
        </p:nvSpPr>
        <p:spPr>
          <a:xfrm>
            <a:off x="7772400" y="6400800"/>
            <a:ext cx="1097280" cy="365760"/>
          </a:xfrm>
          <a:prstGeom prst="rect">
            <a:avLst/>
          </a:prstGeom>
          <a:noFill/>
        </p:spPr>
        <p:txBody>
          <a:bodyPr wrap="square">
            <a:spAutoFit/>
          </a:bodyPr>
          <a:lstStyle/>
          <a:p>
            <a:pPr algn="r">
              <a:defRPr sz="1000" b="0">
                <a:solidFill>
                  <a:srgbClr val="CCCCCC"/>
                </a:solidFill>
                <a:latin typeface="Calibri"/>
              </a:defRPr>
            </a:pPr>
            <a:r>
              <a:t>6 / 10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731520" y="457200"/>
            <a:ext cx="7315200" cy="731520"/>
          </a:xfrm>
          <a:prstGeom prst="rect">
            <a:avLst/>
          </a:prstGeom>
          <a:noFill/>
        </p:spPr>
        <p:txBody>
          <a:bodyPr wrap="square">
            <a:spAutoFit/>
          </a:bodyPr>
          <a:lstStyle/>
          <a:p>
            <a:pPr algn="l">
              <a:defRPr sz="3200" b="1">
                <a:solidFill>
                  <a:srgbClr val="00C9A7"/>
                </a:solidFill>
                <a:latin typeface="Calibri"/>
              </a:defRPr>
            </a:pPr>
            <a:r>
              <a:t>Triggers &amp; Stored Procedures</a:t>
            </a:r>
          </a:p>
        </p:txBody>
      </p:sp>
      <p:sp>
        <p:nvSpPr>
          <p:cNvPr id="3" name="Rectangle 2"/>
          <p:cNvSpPr/>
          <p:nvPr/>
        </p:nvSpPr>
        <p:spPr>
          <a:xfrm>
            <a:off x="731520" y="1097280"/>
            <a:ext cx="1828800" cy="50800"/>
          </a:xfrm>
          <a:prstGeom prst="rect">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0"/>
            <a:ext cx="7315200" cy="457200"/>
          </a:xfrm>
          <a:prstGeom prst="rect">
            <a:avLst/>
          </a:prstGeom>
          <a:noFill/>
        </p:spPr>
        <p:txBody>
          <a:bodyPr wrap="square">
            <a:spAutoFit/>
          </a:bodyPr>
          <a:lstStyle/>
          <a:p>
            <a:pPr algn="l">
              <a:defRPr sz="1400" b="1">
                <a:solidFill>
                  <a:srgbClr val="CCCCCC"/>
                </a:solidFill>
                <a:latin typeface="Calibri"/>
              </a:defRPr>
            </a:pPr>
            <a:r>
              <a:t>MongoDB has no built-in triggers — we implement them at the application level in Python</a:t>
            </a:r>
          </a:p>
        </p:txBody>
      </p:sp>
      <p:sp>
        <p:nvSpPr>
          <p:cNvPr id="5" name="Rounded Rectangle 4"/>
          <p:cNvSpPr/>
          <p:nvPr/>
        </p:nvSpPr>
        <p:spPr>
          <a:xfrm>
            <a:off x="457200" y="2011680"/>
            <a:ext cx="4023360" cy="2011680"/>
          </a:xfrm>
          <a:prstGeom prst="roundRect">
            <a:avLst/>
          </a:prstGeom>
          <a:solidFill>
            <a:srgbClr val="25253A"/>
          </a:solidFill>
          <a:ln w="19050">
            <a:solidFill>
              <a:srgbClr val="0096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2103120"/>
            <a:ext cx="3657600" cy="457200"/>
          </a:xfrm>
          <a:prstGeom prst="rect">
            <a:avLst/>
          </a:prstGeom>
          <a:noFill/>
        </p:spPr>
        <p:txBody>
          <a:bodyPr wrap="square">
            <a:spAutoFit/>
          </a:bodyPr>
          <a:lstStyle/>
          <a:p>
            <a:pPr algn="l">
              <a:defRPr sz="1400" b="1">
                <a:solidFill>
                  <a:srgbClr val="0096D6"/>
                </a:solidFill>
                <a:latin typeface="Calibri"/>
              </a:defRPr>
            </a:pPr>
            <a:r>
              <a:t>BEFORE INSERT Trigger</a:t>
            </a:r>
          </a:p>
        </p:txBody>
      </p:sp>
      <p:sp>
        <p:nvSpPr>
          <p:cNvPr id="7" name="TextBox 6"/>
          <p:cNvSpPr txBox="1"/>
          <p:nvPr/>
        </p:nvSpPr>
        <p:spPr>
          <a:xfrm>
            <a:off x="594360" y="2514600"/>
            <a:ext cx="3657600" cy="274320"/>
          </a:xfrm>
          <a:prstGeom prst="rect">
            <a:avLst/>
          </a:prstGeom>
          <a:noFill/>
        </p:spPr>
        <p:txBody>
          <a:bodyPr wrap="square">
            <a:spAutoFit/>
          </a:bodyPr>
          <a:lstStyle/>
          <a:p>
            <a:pPr algn="l">
              <a:defRPr sz="1100" b="0">
                <a:solidFill>
                  <a:srgbClr val="0096D6"/>
                </a:solidFill>
                <a:latin typeface="Calibri"/>
              </a:defRPr>
            </a:pPr>
            <a:r>
              <a:t>📁 validation_service.py</a:t>
            </a:r>
          </a:p>
        </p:txBody>
      </p:sp>
      <p:sp>
        <p:nvSpPr>
          <p:cNvPr id="8" name="TextBox 7"/>
          <p:cNvSpPr txBox="1"/>
          <p:nvPr/>
        </p:nvSpPr>
        <p:spPr>
          <a:xfrm>
            <a:off x="594360" y="2788920"/>
            <a:ext cx="3657600" cy="1097280"/>
          </a:xfrm>
          <a:prstGeom prst="rect">
            <a:avLst/>
          </a:prstGeom>
          <a:noFill/>
        </p:spPr>
        <p:txBody>
          <a:bodyPr wrap="square">
            <a:spAutoFit/>
          </a:bodyPr>
          <a:lstStyle/>
          <a:p>
            <a:pPr algn="l">
              <a:defRPr sz="1100" b="0">
                <a:solidFill>
                  <a:srgbClr val="CCCCCC"/>
                </a:solidFill>
                <a:latin typeface="Calibri"/>
              </a:defRPr>
            </a:pPr>
            <a:r>
              <a:t>• Validates patient data (name, age, gender)</a:t>
            </a:r>
            <a:br/>
            <a:r>
              <a:t>• Checks foreign key existence (patient_id, test_id)</a:t>
            </a:r>
            <a:br/>
            <a:r>
              <a:t>• Enforces status transition rules (state machine)</a:t>
            </a:r>
          </a:p>
        </p:txBody>
      </p:sp>
      <p:sp>
        <p:nvSpPr>
          <p:cNvPr id="9" name="Rounded Rectangle 8"/>
          <p:cNvSpPr/>
          <p:nvPr/>
        </p:nvSpPr>
        <p:spPr>
          <a:xfrm>
            <a:off x="4754880" y="2011680"/>
            <a:ext cx="4023360" cy="2011680"/>
          </a:xfrm>
          <a:prstGeom prst="roundRect">
            <a:avLst/>
          </a:prstGeom>
          <a:solidFill>
            <a:srgbClr val="25253A"/>
          </a:solidFill>
          <a:ln w="19050">
            <a:solidFill>
              <a:srgbClr val="FF8C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892040" y="2103120"/>
            <a:ext cx="3657600" cy="457200"/>
          </a:xfrm>
          <a:prstGeom prst="rect">
            <a:avLst/>
          </a:prstGeom>
          <a:noFill/>
        </p:spPr>
        <p:txBody>
          <a:bodyPr wrap="square">
            <a:spAutoFit/>
          </a:bodyPr>
          <a:lstStyle/>
          <a:p>
            <a:pPr algn="l">
              <a:defRPr sz="1400" b="1">
                <a:solidFill>
                  <a:srgbClr val="FF8C42"/>
                </a:solidFill>
                <a:latin typeface="Calibri"/>
              </a:defRPr>
            </a:pPr>
            <a:r>
              <a:t>AFTER UPDATE Trigger</a:t>
            </a:r>
          </a:p>
        </p:txBody>
      </p:sp>
      <p:sp>
        <p:nvSpPr>
          <p:cNvPr id="11" name="TextBox 10"/>
          <p:cNvSpPr txBox="1"/>
          <p:nvPr/>
        </p:nvSpPr>
        <p:spPr>
          <a:xfrm>
            <a:off x="4892040" y="2514600"/>
            <a:ext cx="3657600" cy="274320"/>
          </a:xfrm>
          <a:prstGeom prst="rect">
            <a:avLst/>
          </a:prstGeom>
          <a:noFill/>
        </p:spPr>
        <p:txBody>
          <a:bodyPr wrap="square">
            <a:spAutoFit/>
          </a:bodyPr>
          <a:lstStyle/>
          <a:p>
            <a:pPr algn="l">
              <a:defRPr sz="1100" b="0">
                <a:solidFill>
                  <a:srgbClr val="0096D6"/>
                </a:solidFill>
                <a:latin typeface="Calibri"/>
              </a:defRPr>
            </a:pPr>
            <a:r>
              <a:t>📁 alert_service.py</a:t>
            </a:r>
          </a:p>
        </p:txBody>
      </p:sp>
      <p:sp>
        <p:nvSpPr>
          <p:cNvPr id="12" name="TextBox 11"/>
          <p:cNvSpPr txBox="1"/>
          <p:nvPr/>
        </p:nvSpPr>
        <p:spPr>
          <a:xfrm>
            <a:off x="4892040" y="2788920"/>
            <a:ext cx="3657600" cy="1097280"/>
          </a:xfrm>
          <a:prstGeom prst="rect">
            <a:avLst/>
          </a:prstGeom>
          <a:noFill/>
        </p:spPr>
        <p:txBody>
          <a:bodyPr wrap="square">
            <a:spAutoFit/>
          </a:bodyPr>
          <a:lstStyle/>
          <a:p>
            <a:pPr algn="l">
              <a:defRPr sz="1100" b="0">
                <a:solidFill>
                  <a:srgbClr val="CCCCCC"/>
                </a:solidFill>
                <a:latin typeface="Calibri"/>
              </a:defRPr>
            </a:pPr>
            <a:r>
              <a:t>• Auto-fires when a lab result is recorded</a:t>
            </a:r>
            <a:br/>
            <a:r>
              <a:t>• Compares result against normal range</a:t>
            </a:r>
            <a:br/>
            <a:r>
              <a:t>• Creates Critical / Abnormal / Delayed alerts</a:t>
            </a:r>
          </a:p>
        </p:txBody>
      </p:sp>
      <p:sp>
        <p:nvSpPr>
          <p:cNvPr id="13" name="Rounded Rectangle 12"/>
          <p:cNvSpPr/>
          <p:nvPr/>
        </p:nvSpPr>
        <p:spPr>
          <a:xfrm>
            <a:off x="457200" y="4297680"/>
            <a:ext cx="4023360" cy="2011680"/>
          </a:xfrm>
          <a:prstGeom prst="roundRect">
            <a:avLst/>
          </a:prstGeom>
          <a:solidFill>
            <a:srgbClr val="25253A"/>
          </a:solidFill>
          <a:ln w="19050">
            <a:solidFill>
              <a:srgbClr val="00C9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4360" y="4389120"/>
            <a:ext cx="3657600" cy="457200"/>
          </a:xfrm>
          <a:prstGeom prst="rect">
            <a:avLst/>
          </a:prstGeom>
          <a:noFill/>
        </p:spPr>
        <p:txBody>
          <a:bodyPr wrap="square">
            <a:spAutoFit/>
          </a:bodyPr>
          <a:lstStyle/>
          <a:p>
            <a:pPr algn="l">
              <a:defRPr sz="1400" b="1">
                <a:solidFill>
                  <a:srgbClr val="00C9A7"/>
                </a:solidFill>
                <a:latin typeface="Calibri"/>
              </a:defRPr>
            </a:pPr>
            <a:r>
              <a:t>Stored Procedure:</a:t>
            </a:r>
            <a:br/>
            <a:r>
              <a:t>sp_place_order()</a:t>
            </a:r>
          </a:p>
        </p:txBody>
      </p:sp>
      <p:sp>
        <p:nvSpPr>
          <p:cNvPr id="15" name="TextBox 14"/>
          <p:cNvSpPr txBox="1"/>
          <p:nvPr/>
        </p:nvSpPr>
        <p:spPr>
          <a:xfrm>
            <a:off x="594360" y="4800600"/>
            <a:ext cx="3657600" cy="274320"/>
          </a:xfrm>
          <a:prstGeom prst="rect">
            <a:avLst/>
          </a:prstGeom>
          <a:noFill/>
        </p:spPr>
        <p:txBody>
          <a:bodyPr wrap="square">
            <a:spAutoFit/>
          </a:bodyPr>
          <a:lstStyle/>
          <a:p>
            <a:pPr algn="l">
              <a:defRPr sz="1100" b="0">
                <a:solidFill>
                  <a:srgbClr val="0096D6"/>
                </a:solidFill>
                <a:latin typeface="Calibri"/>
              </a:defRPr>
            </a:pPr>
            <a:r>
              <a:t>📁 order_service.py</a:t>
            </a:r>
          </a:p>
        </p:txBody>
      </p:sp>
      <p:sp>
        <p:nvSpPr>
          <p:cNvPr id="16" name="TextBox 15"/>
          <p:cNvSpPr txBox="1"/>
          <p:nvPr/>
        </p:nvSpPr>
        <p:spPr>
          <a:xfrm>
            <a:off x="594360" y="5074920"/>
            <a:ext cx="3657600" cy="1097280"/>
          </a:xfrm>
          <a:prstGeom prst="rect">
            <a:avLst/>
          </a:prstGeom>
          <a:noFill/>
        </p:spPr>
        <p:txBody>
          <a:bodyPr wrap="square">
            <a:spAutoFit/>
          </a:bodyPr>
          <a:lstStyle/>
          <a:p>
            <a:pPr algn="l">
              <a:defRPr sz="1100" b="0">
                <a:solidFill>
                  <a:srgbClr val="CCCCCC"/>
                </a:solidFill>
                <a:latin typeface="Calibri"/>
              </a:defRPr>
            </a:pPr>
            <a:r>
              <a:t>• Validates patient &amp; test exist (FK check)</a:t>
            </a:r>
            <a:br/>
            <a:r>
              <a:t>• Creates the order document</a:t>
            </a:r>
            <a:br/>
            <a:r>
              <a:t>• Equivalent to BEGIN TRANSACTION → INSERT → COMMIT</a:t>
            </a:r>
          </a:p>
        </p:txBody>
      </p:sp>
      <p:sp>
        <p:nvSpPr>
          <p:cNvPr id="17" name="Rounded Rectangle 16"/>
          <p:cNvSpPr/>
          <p:nvPr/>
        </p:nvSpPr>
        <p:spPr>
          <a:xfrm>
            <a:off x="4754880" y="4297680"/>
            <a:ext cx="4023360" cy="2011680"/>
          </a:xfrm>
          <a:prstGeom prst="roundRect">
            <a:avLst/>
          </a:prstGeom>
          <a:solidFill>
            <a:srgbClr val="25253A"/>
          </a:solidFill>
          <a:ln w="19050">
            <a:solidFill>
              <a:srgbClr val="7B6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892040" y="4389120"/>
            <a:ext cx="3657600" cy="457200"/>
          </a:xfrm>
          <a:prstGeom prst="rect">
            <a:avLst/>
          </a:prstGeom>
          <a:noFill/>
        </p:spPr>
        <p:txBody>
          <a:bodyPr wrap="square">
            <a:spAutoFit/>
          </a:bodyPr>
          <a:lstStyle/>
          <a:p>
            <a:pPr algn="l">
              <a:defRPr sz="1400" b="1">
                <a:solidFill>
                  <a:srgbClr val="7B68EE"/>
                </a:solidFill>
                <a:latin typeface="Calibri"/>
              </a:defRPr>
            </a:pPr>
            <a:r>
              <a:t>Stored Procedure:</a:t>
            </a:r>
            <a:br/>
            <a:r>
              <a:t>sp_record_result()</a:t>
            </a:r>
          </a:p>
        </p:txBody>
      </p:sp>
      <p:sp>
        <p:nvSpPr>
          <p:cNvPr id="19" name="TextBox 18"/>
          <p:cNvSpPr txBox="1"/>
          <p:nvPr/>
        </p:nvSpPr>
        <p:spPr>
          <a:xfrm>
            <a:off x="4892040" y="4800600"/>
            <a:ext cx="3657600" cy="274320"/>
          </a:xfrm>
          <a:prstGeom prst="rect">
            <a:avLst/>
          </a:prstGeom>
          <a:noFill/>
        </p:spPr>
        <p:txBody>
          <a:bodyPr wrap="square">
            <a:spAutoFit/>
          </a:bodyPr>
          <a:lstStyle/>
          <a:p>
            <a:pPr algn="l">
              <a:defRPr sz="1100" b="0">
                <a:solidFill>
                  <a:srgbClr val="0096D6"/>
                </a:solidFill>
                <a:latin typeface="Calibri"/>
              </a:defRPr>
            </a:pPr>
            <a:r>
              <a:t>📁 order_service.py</a:t>
            </a:r>
          </a:p>
        </p:txBody>
      </p:sp>
      <p:sp>
        <p:nvSpPr>
          <p:cNvPr id="20" name="TextBox 19"/>
          <p:cNvSpPr txBox="1"/>
          <p:nvPr/>
        </p:nvSpPr>
        <p:spPr>
          <a:xfrm>
            <a:off x="4892040" y="5074920"/>
            <a:ext cx="3657600" cy="1097280"/>
          </a:xfrm>
          <a:prstGeom prst="rect">
            <a:avLst/>
          </a:prstGeom>
          <a:noFill/>
        </p:spPr>
        <p:txBody>
          <a:bodyPr wrap="square">
            <a:spAutoFit/>
          </a:bodyPr>
          <a:lstStyle/>
          <a:p>
            <a:pPr algn="l">
              <a:defRPr sz="1100" b="0">
                <a:solidFill>
                  <a:srgbClr val="CCCCCC"/>
                </a:solidFill>
                <a:latin typeface="Calibri"/>
              </a:defRPr>
            </a:pPr>
            <a:r>
              <a:t>• Records numeric result on order</a:t>
            </a:r>
            <a:br/>
            <a:r>
              <a:t>• Sets status to 'Completed' + timestamps</a:t>
            </a:r>
            <a:br/>
            <a:r>
              <a:t>• AFTER UPDATE trigger fires → auto-alert if abnormal</a:t>
            </a:r>
          </a:p>
        </p:txBody>
      </p:sp>
      <p:sp>
        <p:nvSpPr>
          <p:cNvPr id="21" name="TextBox 20"/>
          <p:cNvSpPr txBox="1"/>
          <p:nvPr/>
        </p:nvSpPr>
        <p:spPr>
          <a:xfrm>
            <a:off x="7772400" y="6400800"/>
            <a:ext cx="1097280" cy="365760"/>
          </a:xfrm>
          <a:prstGeom prst="rect">
            <a:avLst/>
          </a:prstGeom>
          <a:noFill/>
        </p:spPr>
        <p:txBody>
          <a:bodyPr wrap="square">
            <a:spAutoFit/>
          </a:bodyPr>
          <a:lstStyle/>
          <a:p>
            <a:pPr algn="r">
              <a:defRPr sz="1000" b="0">
                <a:solidFill>
                  <a:srgbClr val="CCCCCC"/>
                </a:solidFill>
                <a:latin typeface="Calibri"/>
              </a:defRPr>
            </a:pPr>
            <a:r>
              <a:t>7 / 10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731520" y="457200"/>
            <a:ext cx="7315200" cy="731520"/>
          </a:xfrm>
          <a:prstGeom prst="rect">
            <a:avLst/>
          </a:prstGeom>
          <a:noFill/>
        </p:spPr>
        <p:txBody>
          <a:bodyPr wrap="square">
            <a:spAutoFit/>
          </a:bodyPr>
          <a:lstStyle/>
          <a:p>
            <a:pPr algn="l">
              <a:defRPr sz="3200" b="1">
                <a:solidFill>
                  <a:srgbClr val="FF8C42"/>
                </a:solidFill>
                <a:latin typeface="Calibri"/>
              </a:defRPr>
            </a:pPr>
            <a:r>
              <a:t>Aggregation Queries (SQL Replacements)</a:t>
            </a:r>
          </a:p>
        </p:txBody>
      </p:sp>
      <p:sp>
        <p:nvSpPr>
          <p:cNvPr id="3" name="Rectangle 2"/>
          <p:cNvSpPr/>
          <p:nvPr/>
        </p:nvSpPr>
        <p:spPr>
          <a:xfrm>
            <a:off x="731520" y="1097280"/>
            <a:ext cx="1828800" cy="50800"/>
          </a:xfrm>
          <a:prstGeom prst="rect">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274320" y="1371600"/>
          <a:ext cx="8595360" cy="4754880"/>
        </p:xfrm>
        <a:graphic>
          <a:graphicData uri="http://schemas.openxmlformats.org/drawingml/2006/table">
            <a:tbl>
              <a:tblPr firstRow="1" bandRow="1">
                <a:tableStyleId>{5C22544A-7EE6-4342-B048-85BDC9FD1C3A}</a:tableStyleId>
              </a:tblPr>
              <a:tblGrid>
                <a:gridCol w="2865120"/>
                <a:gridCol w="2865120"/>
                <a:gridCol w="2865120"/>
              </a:tblGrid>
              <a:tr h="679268">
                <a:tc>
                  <a:txBody>
                    <a:bodyPr/>
                    <a:lstStyle/>
                    <a:p>
                      <a:pPr algn="ctr">
                        <a:defRPr sz="1300" b="1">
                          <a:solidFill>
                            <a:srgbClr val="FFFFFF"/>
                          </a:solidFill>
                          <a:latin typeface="Calibri"/>
                        </a:defRPr>
                      </a:pPr>
                      <a:r>
                        <a:t>Query Function</a:t>
                      </a:r>
                    </a:p>
                  </a:txBody>
                  <a:tcPr>
                    <a:solidFill>
                      <a:srgbClr val="FF8C42"/>
                    </a:solidFill>
                  </a:tcPr>
                </a:tc>
                <a:tc>
                  <a:txBody>
                    <a:bodyPr/>
                    <a:lstStyle/>
                    <a:p>
                      <a:pPr algn="ctr">
                        <a:defRPr sz="1300" b="1">
                          <a:solidFill>
                            <a:srgbClr val="FFFFFF"/>
                          </a:solidFill>
                          <a:latin typeface="Calibri"/>
                        </a:defRPr>
                      </a:pPr>
                      <a:r>
                        <a:t>SQL Equivalent</a:t>
                      </a:r>
                    </a:p>
                  </a:txBody>
                  <a:tcPr>
                    <a:solidFill>
                      <a:srgbClr val="FF8C42"/>
                    </a:solidFill>
                  </a:tcPr>
                </a:tc>
                <a:tc>
                  <a:txBody>
                    <a:bodyPr/>
                    <a:lstStyle/>
                    <a:p>
                      <a:pPr algn="ctr">
                        <a:defRPr sz="1300" b="1">
                          <a:solidFill>
                            <a:srgbClr val="FFFFFF"/>
                          </a:solidFill>
                          <a:latin typeface="Calibri"/>
                        </a:defRPr>
                      </a:pPr>
                      <a:r>
                        <a:t>MongoDB Stages Used</a:t>
                      </a:r>
                    </a:p>
                  </a:txBody>
                  <a:tcPr>
                    <a:solidFill>
                      <a:srgbClr val="FF8C42"/>
                    </a:solidFill>
                  </a:tcPr>
                </a:tc>
              </a:tr>
              <a:tr h="679268">
                <a:tc>
                  <a:txBody>
                    <a:bodyPr/>
                    <a:lstStyle/>
                    <a:p>
                      <a:pPr algn="l">
                        <a:defRPr sz="1100">
                          <a:solidFill>
                            <a:srgbClr val="FFFFFF"/>
                          </a:solidFill>
                          <a:latin typeface="Calibri"/>
                        </a:defRPr>
                      </a:pPr>
                      <a:r>
                        <a:t>tests_per_category()</a:t>
                      </a:r>
                    </a:p>
                  </a:txBody>
                  <a:tcPr>
                    <a:solidFill>
                      <a:srgbClr val="25253A"/>
                    </a:solidFill>
                  </a:tcPr>
                </a:tc>
                <a:tc>
                  <a:txBody>
                    <a:bodyPr/>
                    <a:lstStyle/>
                    <a:p>
                      <a:pPr algn="l">
                        <a:defRPr sz="1100">
                          <a:solidFill>
                            <a:srgbClr val="FFFFFF"/>
                          </a:solidFill>
                          <a:latin typeface="Calibri"/>
                        </a:defRPr>
                      </a:pPr>
                      <a:r>
                        <a:t>SELECT category, COUNT(*)</a:t>
                      </a:r>
                    </a:p>
                    <a:p>
                      <a:pPr algn="l">
                        <a:defRPr sz="1100">
                          <a:solidFill>
                            <a:srgbClr val="FFFFFF"/>
                          </a:solidFill>
                          <a:latin typeface="Calibri"/>
                        </a:defRPr>
                      </a:pPr>
                      <a:r>
                        <a:t>FROM lab_tests GROUP BY category</a:t>
                      </a:r>
                    </a:p>
                  </a:txBody>
                  <a:tcPr>
                    <a:solidFill>
                      <a:srgbClr val="25253A"/>
                    </a:solidFill>
                  </a:tcPr>
                </a:tc>
                <a:tc>
                  <a:txBody>
                    <a:bodyPr/>
                    <a:lstStyle/>
                    <a:p>
                      <a:pPr algn="l">
                        <a:defRPr sz="1100">
                          <a:solidFill>
                            <a:srgbClr val="FFFFFF"/>
                          </a:solidFill>
                          <a:latin typeface="Calibri"/>
                        </a:defRPr>
                      </a:pPr>
                      <a:r>
                        <a:t>$group → $project → $sort</a:t>
                      </a:r>
                    </a:p>
                  </a:txBody>
                  <a:tcPr>
                    <a:solidFill>
                      <a:srgbClr val="25253A"/>
                    </a:solidFill>
                  </a:tcPr>
                </a:tc>
              </a:tr>
              <a:tr h="679268">
                <a:tc>
                  <a:txBody>
                    <a:bodyPr/>
                    <a:lstStyle/>
                    <a:p>
                      <a:pPr algn="l">
                        <a:defRPr sz="1100">
                          <a:solidFill>
                            <a:srgbClr val="FFFFFF"/>
                          </a:solidFill>
                          <a:latin typeface="Calibri"/>
                        </a:defRPr>
                      </a:pPr>
                      <a:r>
                        <a:t>revenue_by_test()</a:t>
                      </a:r>
                    </a:p>
                  </a:txBody>
                  <a:tcPr>
                    <a:solidFill>
                      <a:srgbClr val="1A1A2E"/>
                    </a:solidFill>
                  </a:tcPr>
                </a:tc>
                <a:tc>
                  <a:txBody>
                    <a:bodyPr/>
                    <a:lstStyle/>
                    <a:p>
                      <a:pPr algn="l">
                        <a:defRPr sz="1100">
                          <a:solidFill>
                            <a:srgbClr val="FFFFFF"/>
                          </a:solidFill>
                          <a:latin typeface="Calibri"/>
                        </a:defRPr>
                      </a:pPr>
                      <a:r>
                        <a:t>SELECT test_name, SUM(cost)</a:t>
                      </a:r>
                    </a:p>
                    <a:p>
                      <a:pPr algn="l">
                        <a:defRPr sz="1100">
                          <a:solidFill>
                            <a:srgbClr val="FFFFFF"/>
                          </a:solidFill>
                          <a:latin typeface="Calibri"/>
                        </a:defRPr>
                      </a:pPr>
                      <a:r>
                        <a:t>… JOIN … GROUP BY test_name</a:t>
                      </a:r>
                    </a:p>
                  </a:txBody>
                  <a:tcPr>
                    <a:solidFill>
                      <a:srgbClr val="1A1A2E"/>
                    </a:solidFill>
                  </a:tcPr>
                </a:tc>
                <a:tc>
                  <a:txBody>
                    <a:bodyPr/>
                    <a:lstStyle/>
                    <a:p>
                      <a:pPr algn="l">
                        <a:defRPr sz="1100">
                          <a:solidFill>
                            <a:srgbClr val="FFFFFF"/>
                          </a:solidFill>
                          <a:latin typeface="Calibri"/>
                        </a:defRPr>
                      </a:pPr>
                      <a:r>
                        <a:t>$match → $lookup → $unwind</a:t>
                      </a:r>
                    </a:p>
                    <a:p>
                      <a:pPr algn="l">
                        <a:defRPr sz="1100">
                          <a:solidFill>
                            <a:srgbClr val="FFFFFF"/>
                          </a:solidFill>
                          <a:latin typeface="Calibri"/>
                        </a:defRPr>
                      </a:pPr>
                      <a:r>
                        <a:t>→ $group → $sort</a:t>
                      </a:r>
                    </a:p>
                  </a:txBody>
                  <a:tcPr>
                    <a:solidFill>
                      <a:srgbClr val="1A1A2E"/>
                    </a:solidFill>
                  </a:tcPr>
                </a:tc>
              </a:tr>
              <a:tr h="679268">
                <a:tc>
                  <a:txBody>
                    <a:bodyPr/>
                    <a:lstStyle/>
                    <a:p>
                      <a:pPr algn="l">
                        <a:defRPr sz="1100">
                          <a:solidFill>
                            <a:srgbClr val="FFFFFF"/>
                          </a:solidFill>
                          <a:latin typeface="Calibri"/>
                        </a:defRPr>
                      </a:pPr>
                      <a:r>
                        <a:t>monthly_order_trends()</a:t>
                      </a:r>
                    </a:p>
                  </a:txBody>
                  <a:tcPr>
                    <a:solidFill>
                      <a:srgbClr val="25253A"/>
                    </a:solidFill>
                  </a:tcPr>
                </a:tc>
                <a:tc>
                  <a:txBody>
                    <a:bodyPr/>
                    <a:lstStyle/>
                    <a:p>
                      <a:pPr algn="l">
                        <a:defRPr sz="1100">
                          <a:solidFill>
                            <a:srgbClr val="FFFFFF"/>
                          </a:solidFill>
                          <a:latin typeface="Calibri"/>
                        </a:defRPr>
                      </a:pPr>
                      <a:r>
                        <a:t>SELECT DATE_FORMAT(…, '%Y-%m'),</a:t>
                      </a:r>
                    </a:p>
                    <a:p>
                      <a:pPr algn="l">
                        <a:defRPr sz="1100">
                          <a:solidFill>
                            <a:srgbClr val="FFFFFF"/>
                          </a:solidFill>
                          <a:latin typeface="Calibri"/>
                        </a:defRPr>
                      </a:pPr>
                      <a:r>
                        <a:t>COUNT(*) … GROUP BY month</a:t>
                      </a:r>
                    </a:p>
                  </a:txBody>
                  <a:tcPr>
                    <a:solidFill>
                      <a:srgbClr val="25253A"/>
                    </a:solidFill>
                  </a:tcPr>
                </a:tc>
                <a:tc>
                  <a:txBody>
                    <a:bodyPr/>
                    <a:lstStyle/>
                    <a:p>
                      <a:pPr algn="l">
                        <a:defRPr sz="1100">
                          <a:solidFill>
                            <a:srgbClr val="FFFFFF"/>
                          </a:solidFill>
                          <a:latin typeface="Calibri"/>
                        </a:defRPr>
                      </a:pPr>
                      <a:r>
                        <a:t>$group (with $year, $month)</a:t>
                      </a:r>
                    </a:p>
                    <a:p>
                      <a:pPr algn="l">
                        <a:defRPr sz="1100">
                          <a:solidFill>
                            <a:srgbClr val="FFFFFF"/>
                          </a:solidFill>
                          <a:latin typeface="Calibri"/>
                        </a:defRPr>
                      </a:pPr>
                      <a:r>
                        <a:t>→ $project ($concat) → $sort</a:t>
                      </a:r>
                    </a:p>
                  </a:txBody>
                  <a:tcPr>
                    <a:solidFill>
                      <a:srgbClr val="25253A"/>
                    </a:solidFill>
                  </a:tcPr>
                </a:tc>
              </a:tr>
              <a:tr h="679268">
                <a:tc>
                  <a:txBody>
                    <a:bodyPr/>
                    <a:lstStyle/>
                    <a:p>
                      <a:pPr algn="l">
                        <a:defRPr sz="1100">
                          <a:solidFill>
                            <a:srgbClr val="FFFFFF"/>
                          </a:solidFill>
                          <a:latin typeface="Calibri"/>
                        </a:defRPr>
                      </a:pPr>
                      <a:r>
                        <a:t>patient_full_report()</a:t>
                      </a:r>
                    </a:p>
                  </a:txBody>
                  <a:tcPr>
                    <a:solidFill>
                      <a:srgbClr val="1A1A2E"/>
                    </a:solidFill>
                  </a:tcPr>
                </a:tc>
                <a:tc>
                  <a:txBody>
                    <a:bodyPr/>
                    <a:lstStyle/>
                    <a:p>
                      <a:pPr algn="l">
                        <a:defRPr sz="1100">
                          <a:solidFill>
                            <a:srgbClr val="FFFFFF"/>
                          </a:solidFill>
                          <a:latin typeface="Calibri"/>
                        </a:defRPr>
                      </a:pPr>
                      <a:r>
                        <a:t>SELECT p.*, o.*, t.*</a:t>
                      </a:r>
                    </a:p>
                    <a:p>
                      <a:pPr algn="l">
                        <a:defRPr sz="1100">
                          <a:solidFill>
                            <a:srgbClr val="FFFFFF"/>
                          </a:solidFill>
                          <a:latin typeface="Calibri"/>
                        </a:defRPr>
                      </a:pPr>
                      <a:r>
                        <a:t>… JOIN … JOIN … WHERE p.id=?</a:t>
                      </a:r>
                    </a:p>
                  </a:txBody>
                  <a:tcPr>
                    <a:solidFill>
                      <a:srgbClr val="1A1A2E"/>
                    </a:solidFill>
                  </a:tcPr>
                </a:tc>
                <a:tc>
                  <a:txBody>
                    <a:bodyPr/>
                    <a:lstStyle/>
                    <a:p>
                      <a:pPr algn="l">
                        <a:defRPr sz="1100">
                          <a:solidFill>
                            <a:srgbClr val="FFFFFF"/>
                          </a:solidFill>
                          <a:latin typeface="Calibri"/>
                        </a:defRPr>
                      </a:pPr>
                      <a:r>
                        <a:t>$match → $lookup × 2</a:t>
                      </a:r>
                    </a:p>
                    <a:p>
                      <a:pPr algn="l">
                        <a:defRPr sz="1100">
                          <a:solidFill>
                            <a:srgbClr val="FFFFFF"/>
                          </a:solidFill>
                          <a:latin typeface="Calibri"/>
                        </a:defRPr>
                      </a:pPr>
                      <a:r>
                        <a:t>→ $unwind → $group</a:t>
                      </a:r>
                    </a:p>
                  </a:txBody>
                  <a:tcPr>
                    <a:solidFill>
                      <a:srgbClr val="1A1A2E"/>
                    </a:solidFill>
                  </a:tcPr>
                </a:tc>
              </a:tr>
              <a:tr h="679268">
                <a:tc>
                  <a:txBody>
                    <a:bodyPr/>
                    <a:lstStyle/>
                    <a:p>
                      <a:pPr algn="l">
                        <a:defRPr sz="1100">
                          <a:solidFill>
                            <a:srgbClr val="FFFFFF"/>
                          </a:solidFill>
                          <a:latin typeface="Calibri"/>
                        </a:defRPr>
                      </a:pPr>
                      <a:r>
                        <a:t>alert_resolution_rate()</a:t>
                      </a:r>
                    </a:p>
                  </a:txBody>
                  <a:tcPr>
                    <a:solidFill>
                      <a:srgbClr val="25253A"/>
                    </a:solidFill>
                  </a:tcPr>
                </a:tc>
                <a:tc>
                  <a:txBody>
                    <a:bodyPr/>
                    <a:lstStyle/>
                    <a:p>
                      <a:pPr algn="l">
                        <a:defRPr sz="1100">
                          <a:solidFill>
                            <a:srgbClr val="FFFFFF"/>
                          </a:solidFill>
                          <a:latin typeface="Calibri"/>
                        </a:defRPr>
                      </a:pPr>
                      <a:r>
                        <a:t>SELECT COUNT(*),</a:t>
                      </a:r>
                    </a:p>
                    <a:p>
                      <a:pPr algn="l">
                        <a:defRPr sz="1100">
                          <a:solidFill>
                            <a:srgbClr val="FFFFFF"/>
                          </a:solidFill>
                          <a:latin typeface="Calibri"/>
                        </a:defRPr>
                      </a:pPr>
                      <a:r>
                        <a:t>SUM(CASE WHEN resolved…)</a:t>
                      </a:r>
                    </a:p>
                  </a:txBody>
                  <a:tcPr>
                    <a:solidFill>
                      <a:srgbClr val="25253A"/>
                    </a:solidFill>
                  </a:tcPr>
                </a:tc>
                <a:tc>
                  <a:txBody>
                    <a:bodyPr/>
                    <a:lstStyle/>
                    <a:p>
                      <a:pPr algn="l">
                        <a:defRPr sz="1100">
                          <a:solidFill>
                            <a:srgbClr val="FFFFFF"/>
                          </a:solidFill>
                          <a:latin typeface="Calibri"/>
                        </a:defRPr>
                      </a:pPr>
                      <a:r>
                        <a:t>$group → $project</a:t>
                      </a:r>
                    </a:p>
                    <a:p>
                      <a:pPr algn="l">
                        <a:defRPr sz="1100">
                          <a:solidFill>
                            <a:srgbClr val="FFFFFF"/>
                          </a:solidFill>
                          <a:latin typeface="Calibri"/>
                        </a:defRPr>
                      </a:pPr>
                      <a:r>
                        <a:t>($cond, $divide, $multiply)</a:t>
                      </a:r>
                    </a:p>
                  </a:txBody>
                  <a:tcPr>
                    <a:solidFill>
                      <a:srgbClr val="25253A"/>
                    </a:solidFill>
                  </a:tcPr>
                </a:tc>
              </a:tr>
              <a:tr h="679272">
                <a:tc>
                  <a:txBody>
                    <a:bodyPr/>
                    <a:lstStyle/>
                    <a:p>
                      <a:pPr algn="l">
                        <a:defRPr sz="1100">
                          <a:solidFill>
                            <a:srgbClr val="FFFFFF"/>
                          </a:solidFill>
                          <a:latin typeface="Calibri"/>
                        </a:defRPr>
                      </a:pPr>
                      <a:r>
                        <a:t>get_turnaround_report()</a:t>
                      </a:r>
                    </a:p>
                  </a:txBody>
                  <a:tcPr>
                    <a:solidFill>
                      <a:srgbClr val="1A1A2E"/>
                    </a:solidFill>
                  </a:tcPr>
                </a:tc>
                <a:tc>
                  <a:txBody>
                    <a:bodyPr/>
                    <a:lstStyle/>
                    <a:p>
                      <a:pPr algn="l">
                        <a:defRPr sz="1100">
                          <a:solidFill>
                            <a:srgbClr val="FFFFFF"/>
                          </a:solidFill>
                          <a:latin typeface="Calibri"/>
                        </a:defRPr>
                      </a:pPr>
                      <a:r>
                        <a:t>SELECT AVG(TIMESTAMPDIFF(…))</a:t>
                      </a:r>
                    </a:p>
                    <a:p>
                      <a:pPr algn="l">
                        <a:defRPr sz="1100">
                          <a:solidFill>
                            <a:srgbClr val="FFFFFF"/>
                          </a:solidFill>
                          <a:latin typeface="Calibri"/>
                        </a:defRPr>
                      </a:pPr>
                      <a:r>
                        <a:t>… JOIN … GROUP BY test</a:t>
                      </a:r>
                    </a:p>
                  </a:txBody>
                  <a:tcPr>
                    <a:solidFill>
                      <a:srgbClr val="1A1A2E"/>
                    </a:solidFill>
                  </a:tcPr>
                </a:tc>
                <a:tc>
                  <a:txBody>
                    <a:bodyPr/>
                    <a:lstStyle/>
                    <a:p>
                      <a:pPr algn="l">
                        <a:defRPr sz="1100">
                          <a:solidFill>
                            <a:srgbClr val="FFFFFF"/>
                          </a:solidFill>
                          <a:latin typeface="Calibri"/>
                        </a:defRPr>
                      </a:pPr>
                      <a:r>
                        <a:t>$match → $addFields ($subtract)</a:t>
                      </a:r>
                    </a:p>
                    <a:p>
                      <a:pPr algn="l">
                        <a:defRPr sz="1100">
                          <a:solidFill>
                            <a:srgbClr val="FFFFFF"/>
                          </a:solidFill>
                          <a:latin typeface="Calibri"/>
                        </a:defRPr>
                      </a:pPr>
                      <a:r>
                        <a:t>→ $lookup → $group ($avg)</a:t>
                      </a:r>
                    </a:p>
                  </a:txBody>
                  <a:tcPr>
                    <a:solidFill>
                      <a:srgbClr val="1A1A2E"/>
                    </a:solidFill>
                  </a:tcPr>
                </a:tc>
              </a:tr>
            </a:tbl>
          </a:graphicData>
        </a:graphic>
      </p:graphicFrame>
      <p:sp>
        <p:nvSpPr>
          <p:cNvPr id="5" name="TextBox 4"/>
          <p:cNvSpPr txBox="1"/>
          <p:nvPr/>
        </p:nvSpPr>
        <p:spPr>
          <a:xfrm>
            <a:off x="731520" y="6309360"/>
            <a:ext cx="7315200" cy="365760"/>
          </a:xfrm>
          <a:prstGeom prst="rect">
            <a:avLst/>
          </a:prstGeom>
          <a:noFill/>
        </p:spPr>
        <p:txBody>
          <a:bodyPr wrap="square">
            <a:spAutoFit/>
          </a:bodyPr>
          <a:lstStyle/>
          <a:p>
            <a:pPr algn="l">
              <a:defRPr sz="1300" b="1">
                <a:solidFill>
                  <a:srgbClr val="00C9A7"/>
                </a:solidFill>
                <a:latin typeface="Calibri"/>
              </a:defRPr>
            </a:pPr>
            <a:r>
              <a:t>Total: 12+ unique aggregation pipelines  •  10+ MongoDB stages used</a:t>
            </a:r>
          </a:p>
        </p:txBody>
      </p:sp>
      <p:sp>
        <p:nvSpPr>
          <p:cNvPr id="6" name="TextBox 5"/>
          <p:cNvSpPr txBox="1"/>
          <p:nvPr/>
        </p:nvSpPr>
        <p:spPr>
          <a:xfrm>
            <a:off x="7772400" y="6400800"/>
            <a:ext cx="1097280" cy="365760"/>
          </a:xfrm>
          <a:prstGeom prst="rect">
            <a:avLst/>
          </a:prstGeom>
          <a:noFill/>
        </p:spPr>
        <p:txBody>
          <a:bodyPr wrap="square">
            <a:spAutoFit/>
          </a:bodyPr>
          <a:lstStyle/>
          <a:p>
            <a:pPr algn="r">
              <a:defRPr sz="1000" b="0">
                <a:solidFill>
                  <a:srgbClr val="CCCCCC"/>
                </a:solidFill>
                <a:latin typeface="Calibri"/>
              </a:defRPr>
            </a:pPr>
            <a:r>
              <a:t>8 / 10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731520" y="457200"/>
            <a:ext cx="7315200" cy="731520"/>
          </a:xfrm>
          <a:prstGeom prst="rect">
            <a:avLst/>
          </a:prstGeom>
          <a:noFill/>
        </p:spPr>
        <p:txBody>
          <a:bodyPr wrap="square">
            <a:spAutoFit/>
          </a:bodyPr>
          <a:lstStyle/>
          <a:p>
            <a:pPr algn="l">
              <a:defRPr sz="3200" b="1">
                <a:solidFill>
                  <a:srgbClr val="7B68EE"/>
                </a:solidFill>
                <a:latin typeface="Calibri"/>
              </a:defRPr>
            </a:pPr>
            <a:r>
              <a:t>Streamlit Dashboard – 7 Pages</a:t>
            </a:r>
          </a:p>
        </p:txBody>
      </p:sp>
      <p:sp>
        <p:nvSpPr>
          <p:cNvPr id="3" name="Rectangle 2"/>
          <p:cNvSpPr/>
          <p:nvPr/>
        </p:nvSpPr>
        <p:spPr>
          <a:xfrm>
            <a:off x="731520" y="1097280"/>
            <a:ext cx="1828800" cy="50800"/>
          </a:xfrm>
          <a:prstGeom prst="rect">
            <a:avLst/>
          </a:prstGeom>
          <a:solidFill>
            <a:srgbClr val="7B68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 y="1463040"/>
            <a:ext cx="2560320" cy="1828800"/>
          </a:xfrm>
          <a:prstGeom prst="roundRect">
            <a:avLst/>
          </a:prstGeom>
          <a:solidFill>
            <a:srgbClr val="25253A"/>
          </a:solidFill>
          <a:ln w="19050">
            <a:solidFill>
              <a:srgbClr val="0096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600200"/>
            <a:ext cx="2377440" cy="457200"/>
          </a:xfrm>
          <a:prstGeom prst="rect">
            <a:avLst/>
          </a:prstGeom>
          <a:noFill/>
        </p:spPr>
        <p:txBody>
          <a:bodyPr wrap="square">
            <a:spAutoFit/>
          </a:bodyPr>
          <a:lstStyle/>
          <a:p>
            <a:pPr algn="ctr">
              <a:defRPr sz="1600" b="1">
                <a:solidFill>
                  <a:srgbClr val="0096D6"/>
                </a:solidFill>
                <a:latin typeface="Calibri"/>
              </a:defRPr>
            </a:pPr>
            <a:r>
              <a:t>📊 Dashboard</a:t>
            </a:r>
          </a:p>
        </p:txBody>
      </p:sp>
      <p:sp>
        <p:nvSpPr>
          <p:cNvPr id="6" name="TextBox 5"/>
          <p:cNvSpPr txBox="1"/>
          <p:nvPr/>
        </p:nvSpPr>
        <p:spPr>
          <a:xfrm>
            <a:off x="548640" y="2103120"/>
            <a:ext cx="2377440" cy="914400"/>
          </a:xfrm>
          <a:prstGeom prst="rect">
            <a:avLst/>
          </a:prstGeom>
          <a:noFill/>
        </p:spPr>
        <p:txBody>
          <a:bodyPr wrap="square">
            <a:spAutoFit/>
          </a:bodyPr>
          <a:lstStyle/>
          <a:p>
            <a:pPr algn="ctr">
              <a:defRPr sz="1200" b="0">
                <a:solidFill>
                  <a:srgbClr val="CCCCCC"/>
                </a:solidFill>
                <a:latin typeface="Calibri"/>
              </a:defRPr>
            </a:pPr>
            <a:r>
              <a:t>KPI metric cards, order/test charts,</a:t>
            </a:r>
            <a:br/>
            <a:r>
              <a:t>active alert warnings</a:t>
            </a:r>
          </a:p>
        </p:txBody>
      </p:sp>
      <p:sp>
        <p:nvSpPr>
          <p:cNvPr id="7" name="Rounded Rectangle 6"/>
          <p:cNvSpPr/>
          <p:nvPr/>
        </p:nvSpPr>
        <p:spPr>
          <a:xfrm>
            <a:off x="3291840" y="1463040"/>
            <a:ext cx="2560320" cy="1828800"/>
          </a:xfrm>
          <a:prstGeom prst="roundRect">
            <a:avLst/>
          </a:prstGeom>
          <a:solidFill>
            <a:srgbClr val="25253A"/>
          </a:solidFill>
          <a:ln w="19050">
            <a:solidFill>
              <a:srgbClr val="00C9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383280" y="1600200"/>
            <a:ext cx="2377440" cy="457200"/>
          </a:xfrm>
          <a:prstGeom prst="rect">
            <a:avLst/>
          </a:prstGeom>
          <a:noFill/>
        </p:spPr>
        <p:txBody>
          <a:bodyPr wrap="square">
            <a:spAutoFit/>
          </a:bodyPr>
          <a:lstStyle/>
          <a:p>
            <a:pPr algn="ctr">
              <a:defRPr sz="1600" b="1">
                <a:solidFill>
                  <a:srgbClr val="00C9A7"/>
                </a:solidFill>
                <a:latin typeface="Calibri"/>
              </a:defRPr>
            </a:pPr>
            <a:r>
              <a:t>👤 Patients</a:t>
            </a:r>
          </a:p>
        </p:txBody>
      </p:sp>
      <p:sp>
        <p:nvSpPr>
          <p:cNvPr id="9" name="TextBox 8"/>
          <p:cNvSpPr txBox="1"/>
          <p:nvPr/>
        </p:nvSpPr>
        <p:spPr>
          <a:xfrm>
            <a:off x="3383280" y="2103120"/>
            <a:ext cx="2377440" cy="914400"/>
          </a:xfrm>
          <a:prstGeom prst="rect">
            <a:avLst/>
          </a:prstGeom>
          <a:noFill/>
        </p:spPr>
        <p:txBody>
          <a:bodyPr wrap="square">
            <a:spAutoFit/>
          </a:bodyPr>
          <a:lstStyle/>
          <a:p>
            <a:pPr algn="ctr">
              <a:defRPr sz="1200" b="0">
                <a:solidFill>
                  <a:srgbClr val="CCCCCC"/>
                </a:solidFill>
                <a:latin typeface="Calibri"/>
              </a:defRPr>
            </a:pPr>
            <a:r>
              <a:t>Full CRUD: add, view, search,</a:t>
            </a:r>
            <a:br/>
            <a:r>
              <a:t>delete patient records</a:t>
            </a:r>
          </a:p>
        </p:txBody>
      </p:sp>
      <p:sp>
        <p:nvSpPr>
          <p:cNvPr id="10" name="Rounded Rectangle 9"/>
          <p:cNvSpPr/>
          <p:nvPr/>
        </p:nvSpPr>
        <p:spPr>
          <a:xfrm>
            <a:off x="6126480" y="1463040"/>
            <a:ext cx="2560320" cy="1828800"/>
          </a:xfrm>
          <a:prstGeom prst="roundRect">
            <a:avLst/>
          </a:prstGeom>
          <a:solidFill>
            <a:srgbClr val="25253A"/>
          </a:solidFill>
          <a:ln w="19050">
            <a:solidFill>
              <a:srgbClr val="FF8C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0" y="1600200"/>
            <a:ext cx="2377440" cy="457200"/>
          </a:xfrm>
          <a:prstGeom prst="rect">
            <a:avLst/>
          </a:prstGeom>
          <a:noFill/>
        </p:spPr>
        <p:txBody>
          <a:bodyPr wrap="square">
            <a:spAutoFit/>
          </a:bodyPr>
          <a:lstStyle/>
          <a:p>
            <a:pPr algn="ctr">
              <a:defRPr sz="1600" b="1">
                <a:solidFill>
                  <a:srgbClr val="FF8C42"/>
                </a:solidFill>
                <a:latin typeface="Calibri"/>
              </a:defRPr>
            </a:pPr>
            <a:r>
              <a:t>🔬 Lab Tests</a:t>
            </a:r>
          </a:p>
        </p:txBody>
      </p:sp>
      <p:sp>
        <p:nvSpPr>
          <p:cNvPr id="12" name="TextBox 11"/>
          <p:cNvSpPr txBox="1"/>
          <p:nvPr/>
        </p:nvSpPr>
        <p:spPr>
          <a:xfrm>
            <a:off x="6217920" y="2103120"/>
            <a:ext cx="2377440" cy="914400"/>
          </a:xfrm>
          <a:prstGeom prst="rect">
            <a:avLst/>
          </a:prstGeom>
          <a:noFill/>
        </p:spPr>
        <p:txBody>
          <a:bodyPr wrap="square">
            <a:spAutoFit/>
          </a:bodyPr>
          <a:lstStyle/>
          <a:p>
            <a:pPr algn="ctr">
              <a:defRPr sz="1200" b="0">
                <a:solidFill>
                  <a:srgbClr val="CCCCCC"/>
                </a:solidFill>
                <a:latin typeface="Calibri"/>
              </a:defRPr>
            </a:pPr>
            <a:r>
              <a:t>Define test catalog with normal</a:t>
            </a:r>
            <a:br/>
            <a:r>
              <a:t>ranges, costs, categories</a:t>
            </a:r>
          </a:p>
        </p:txBody>
      </p:sp>
      <p:sp>
        <p:nvSpPr>
          <p:cNvPr id="13" name="Rounded Rectangle 12"/>
          <p:cNvSpPr/>
          <p:nvPr/>
        </p:nvSpPr>
        <p:spPr>
          <a:xfrm>
            <a:off x="457200" y="3566160"/>
            <a:ext cx="2560320" cy="1828800"/>
          </a:xfrm>
          <a:prstGeom prst="roundRect">
            <a:avLst/>
          </a:prstGeom>
          <a:solidFill>
            <a:srgbClr val="25253A"/>
          </a:solidFill>
          <a:ln w="19050">
            <a:solidFill>
              <a:srgbClr val="7B6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3703320"/>
            <a:ext cx="2377440" cy="457200"/>
          </a:xfrm>
          <a:prstGeom prst="rect">
            <a:avLst/>
          </a:prstGeom>
          <a:noFill/>
        </p:spPr>
        <p:txBody>
          <a:bodyPr wrap="square">
            <a:spAutoFit/>
          </a:bodyPr>
          <a:lstStyle/>
          <a:p>
            <a:pPr algn="ctr">
              <a:defRPr sz="1600" b="1">
                <a:solidFill>
                  <a:srgbClr val="7B68EE"/>
                </a:solidFill>
                <a:latin typeface="Calibri"/>
              </a:defRPr>
            </a:pPr>
            <a:r>
              <a:t>📋 Orders</a:t>
            </a:r>
          </a:p>
        </p:txBody>
      </p:sp>
      <p:sp>
        <p:nvSpPr>
          <p:cNvPr id="15" name="TextBox 14"/>
          <p:cNvSpPr txBox="1"/>
          <p:nvPr/>
        </p:nvSpPr>
        <p:spPr>
          <a:xfrm>
            <a:off x="548640" y="4206240"/>
            <a:ext cx="2377440" cy="914400"/>
          </a:xfrm>
          <a:prstGeom prst="rect">
            <a:avLst/>
          </a:prstGeom>
          <a:noFill/>
        </p:spPr>
        <p:txBody>
          <a:bodyPr wrap="square">
            <a:spAutoFit/>
          </a:bodyPr>
          <a:lstStyle/>
          <a:p>
            <a:pPr algn="ctr">
              <a:defRPr sz="1200" b="0">
                <a:solidFill>
                  <a:srgbClr val="CCCCCC"/>
                </a:solidFill>
                <a:latin typeface="Calibri"/>
              </a:defRPr>
            </a:pPr>
            <a:r>
              <a:t>Place orders, update status (state</a:t>
            </a:r>
            <a:br/>
            <a:r>
              <a:t>machine), record lab results</a:t>
            </a:r>
          </a:p>
        </p:txBody>
      </p:sp>
      <p:sp>
        <p:nvSpPr>
          <p:cNvPr id="16" name="Rounded Rectangle 15"/>
          <p:cNvSpPr/>
          <p:nvPr/>
        </p:nvSpPr>
        <p:spPr>
          <a:xfrm>
            <a:off x="3291840" y="3566160"/>
            <a:ext cx="2560320" cy="1828800"/>
          </a:xfrm>
          <a:prstGeom prst="roundRect">
            <a:avLst/>
          </a:prstGeom>
          <a:solidFill>
            <a:srgbClr val="25253A"/>
          </a:solidFill>
          <a:ln w="19050">
            <a:solidFill>
              <a:srgbClr val="E040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383280" y="3703320"/>
            <a:ext cx="2377440" cy="457200"/>
          </a:xfrm>
          <a:prstGeom prst="rect">
            <a:avLst/>
          </a:prstGeom>
          <a:noFill/>
        </p:spPr>
        <p:txBody>
          <a:bodyPr wrap="square">
            <a:spAutoFit/>
          </a:bodyPr>
          <a:lstStyle/>
          <a:p>
            <a:pPr algn="ctr">
              <a:defRPr sz="1600" b="1">
                <a:solidFill>
                  <a:srgbClr val="E04040"/>
                </a:solidFill>
                <a:latin typeface="Calibri"/>
              </a:defRPr>
            </a:pPr>
            <a:r>
              <a:t>🔔 Alerts</a:t>
            </a:r>
          </a:p>
        </p:txBody>
      </p:sp>
      <p:sp>
        <p:nvSpPr>
          <p:cNvPr id="18" name="TextBox 17"/>
          <p:cNvSpPr txBox="1"/>
          <p:nvPr/>
        </p:nvSpPr>
        <p:spPr>
          <a:xfrm>
            <a:off x="3383280" y="4206240"/>
            <a:ext cx="2377440" cy="914400"/>
          </a:xfrm>
          <a:prstGeom prst="rect">
            <a:avLst/>
          </a:prstGeom>
          <a:noFill/>
        </p:spPr>
        <p:txBody>
          <a:bodyPr wrap="square">
            <a:spAutoFit/>
          </a:bodyPr>
          <a:lstStyle/>
          <a:p>
            <a:pPr algn="ctr">
              <a:defRPr sz="1200" b="0">
                <a:solidFill>
                  <a:srgbClr val="CCCCCC"/>
                </a:solidFill>
                <a:latin typeface="Calibri"/>
              </a:defRPr>
            </a:pPr>
            <a:r>
              <a:t>View unresolved alerts, resolve them,</a:t>
            </a:r>
            <a:br/>
            <a:r>
              <a:t>check for delayed orders</a:t>
            </a:r>
          </a:p>
        </p:txBody>
      </p:sp>
      <p:sp>
        <p:nvSpPr>
          <p:cNvPr id="19" name="Rounded Rectangle 18"/>
          <p:cNvSpPr/>
          <p:nvPr/>
        </p:nvSpPr>
        <p:spPr>
          <a:xfrm>
            <a:off x="6126480" y="3566160"/>
            <a:ext cx="2560320" cy="1828800"/>
          </a:xfrm>
          <a:prstGeom prst="roundRect">
            <a:avLst/>
          </a:prstGeom>
          <a:solidFill>
            <a:srgbClr val="25253A"/>
          </a:solidFill>
          <a:ln w="19050">
            <a:solidFill>
              <a:srgbClr val="0096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3703320"/>
            <a:ext cx="2377440" cy="457200"/>
          </a:xfrm>
          <a:prstGeom prst="rect">
            <a:avLst/>
          </a:prstGeom>
          <a:noFill/>
        </p:spPr>
        <p:txBody>
          <a:bodyPr wrap="square">
            <a:spAutoFit/>
          </a:bodyPr>
          <a:lstStyle/>
          <a:p>
            <a:pPr algn="ctr">
              <a:defRPr sz="1600" b="1">
                <a:solidFill>
                  <a:srgbClr val="0096D6"/>
                </a:solidFill>
                <a:latin typeface="Calibri"/>
              </a:defRPr>
            </a:pPr>
            <a:r>
              <a:t>📈 Analytics</a:t>
            </a:r>
          </a:p>
        </p:txBody>
      </p:sp>
      <p:sp>
        <p:nvSpPr>
          <p:cNvPr id="21" name="TextBox 20"/>
          <p:cNvSpPr txBox="1"/>
          <p:nvPr/>
        </p:nvSpPr>
        <p:spPr>
          <a:xfrm>
            <a:off x="6217920" y="4206240"/>
            <a:ext cx="2377440" cy="914400"/>
          </a:xfrm>
          <a:prstGeom prst="rect">
            <a:avLst/>
          </a:prstGeom>
          <a:noFill/>
        </p:spPr>
        <p:txBody>
          <a:bodyPr wrap="square">
            <a:spAutoFit/>
          </a:bodyPr>
          <a:lstStyle/>
          <a:p>
            <a:pPr algn="ctr">
              <a:defRPr sz="1200" b="0">
                <a:solidFill>
                  <a:srgbClr val="CCCCCC"/>
                </a:solidFill>
                <a:latin typeface="Calibri"/>
              </a:defRPr>
            </a:pPr>
            <a:r>
              <a:t>Revenue charts, priority breakdown,</a:t>
            </a:r>
            <a:br/>
            <a:r>
              <a:t>monthly trends, turnaround times</a:t>
            </a:r>
          </a:p>
        </p:txBody>
      </p:sp>
      <p:sp>
        <p:nvSpPr>
          <p:cNvPr id="22" name="Rounded Rectangle 21"/>
          <p:cNvSpPr/>
          <p:nvPr/>
        </p:nvSpPr>
        <p:spPr>
          <a:xfrm>
            <a:off x="457200" y="5669279"/>
            <a:ext cx="2560320" cy="1828800"/>
          </a:xfrm>
          <a:prstGeom prst="roundRect">
            <a:avLst/>
          </a:prstGeom>
          <a:solidFill>
            <a:srgbClr val="25253A"/>
          </a:solidFill>
          <a:ln w="19050">
            <a:solidFill>
              <a:srgbClr val="00C9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5806439"/>
            <a:ext cx="2377440" cy="457200"/>
          </a:xfrm>
          <a:prstGeom prst="rect">
            <a:avLst/>
          </a:prstGeom>
          <a:noFill/>
        </p:spPr>
        <p:txBody>
          <a:bodyPr wrap="square">
            <a:spAutoFit/>
          </a:bodyPr>
          <a:lstStyle/>
          <a:p>
            <a:pPr algn="ctr">
              <a:defRPr sz="1600" b="1">
                <a:solidFill>
                  <a:srgbClr val="00C9A7"/>
                </a:solidFill>
                <a:latin typeface="Calibri"/>
              </a:defRPr>
            </a:pPr>
            <a:r>
              <a:t>📄 Reports</a:t>
            </a:r>
          </a:p>
        </p:txBody>
      </p:sp>
      <p:sp>
        <p:nvSpPr>
          <p:cNvPr id="24" name="TextBox 23"/>
          <p:cNvSpPr txBox="1"/>
          <p:nvPr/>
        </p:nvSpPr>
        <p:spPr>
          <a:xfrm>
            <a:off x="548640" y="6309359"/>
            <a:ext cx="2377440" cy="914400"/>
          </a:xfrm>
          <a:prstGeom prst="rect">
            <a:avLst/>
          </a:prstGeom>
          <a:noFill/>
        </p:spPr>
        <p:txBody>
          <a:bodyPr wrap="square">
            <a:spAutoFit/>
          </a:bodyPr>
          <a:lstStyle/>
          <a:p>
            <a:pPr algn="ctr">
              <a:defRPr sz="1200" b="0">
                <a:solidFill>
                  <a:srgbClr val="CCCCCC"/>
                </a:solidFill>
                <a:latin typeface="Calibri"/>
              </a:defRPr>
            </a:pPr>
            <a:r>
              <a:t>Patient full report (multi-JOIN),</a:t>
            </a:r>
            <a:br/>
            <a:r>
              <a:t>test result summary statistics</a:t>
            </a:r>
          </a:p>
        </p:txBody>
      </p:sp>
      <p:sp>
        <p:nvSpPr>
          <p:cNvPr id="25" name="TextBox 24"/>
          <p:cNvSpPr txBox="1"/>
          <p:nvPr/>
        </p:nvSpPr>
        <p:spPr>
          <a:xfrm>
            <a:off x="731520" y="5760720"/>
            <a:ext cx="7315200" cy="457200"/>
          </a:xfrm>
          <a:prstGeom prst="rect">
            <a:avLst/>
          </a:prstGeom>
          <a:noFill/>
        </p:spPr>
        <p:txBody>
          <a:bodyPr wrap="square">
            <a:spAutoFit/>
          </a:bodyPr>
          <a:lstStyle/>
          <a:p>
            <a:pPr algn="ctr">
              <a:defRPr sz="1400" b="1">
                <a:solidFill>
                  <a:srgbClr val="0096D6"/>
                </a:solidFill>
                <a:latin typeface="Calibri"/>
              </a:defRPr>
            </a:pPr>
            <a:r>
              <a:t>Run with:   streamlit run dashboard/app.py</a:t>
            </a:r>
          </a:p>
        </p:txBody>
      </p:sp>
      <p:sp>
        <p:nvSpPr>
          <p:cNvPr id="26" name="TextBox 25"/>
          <p:cNvSpPr txBox="1"/>
          <p:nvPr/>
        </p:nvSpPr>
        <p:spPr>
          <a:xfrm>
            <a:off x="7772400" y="6400800"/>
            <a:ext cx="1097280" cy="365760"/>
          </a:xfrm>
          <a:prstGeom prst="rect">
            <a:avLst/>
          </a:prstGeom>
          <a:noFill/>
        </p:spPr>
        <p:txBody>
          <a:bodyPr wrap="square">
            <a:spAutoFit/>
          </a:bodyPr>
          <a:lstStyle/>
          <a:p>
            <a:pPr algn="r">
              <a:defRPr sz="1000" b="0">
                <a:solidFill>
                  <a:srgbClr val="CCCCCC"/>
                </a:solidFill>
                <a:latin typeface="Calibri"/>
              </a:defRPr>
            </a:pPr>
            <a:r>
              <a:t>9 / 10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TextBox 1"/>
          <p:cNvSpPr txBox="1"/>
          <p:nvPr/>
        </p:nvSpPr>
        <p:spPr>
          <a:xfrm>
            <a:off x="731520" y="457200"/>
            <a:ext cx="7315200" cy="731520"/>
          </a:xfrm>
          <a:prstGeom prst="rect">
            <a:avLst/>
          </a:prstGeom>
          <a:noFill/>
        </p:spPr>
        <p:txBody>
          <a:bodyPr wrap="square">
            <a:spAutoFit/>
          </a:bodyPr>
          <a:lstStyle/>
          <a:p>
            <a:pPr algn="l">
              <a:defRPr sz="3200" b="1">
                <a:solidFill>
                  <a:srgbClr val="FFFFFF"/>
                </a:solidFill>
                <a:latin typeface="Calibri"/>
              </a:defRPr>
            </a:pPr>
            <a:r>
              <a:t>Conclusion &amp; Key Takeaways</a:t>
            </a:r>
          </a:p>
        </p:txBody>
      </p:sp>
      <p:sp>
        <p:nvSpPr>
          <p:cNvPr id="3" name="Rectangle 2"/>
          <p:cNvSpPr/>
          <p:nvPr/>
        </p:nvSpPr>
        <p:spPr>
          <a:xfrm>
            <a:off x="731520" y="1097280"/>
            <a:ext cx="1828800" cy="50800"/>
          </a:xfrm>
          <a:prstGeom prst="rect">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7498079" cy="3200400"/>
          </a:xfrm>
          <a:prstGeom prst="rect">
            <a:avLst/>
          </a:prstGeom>
          <a:noFill/>
        </p:spPr>
        <p:txBody>
          <a:bodyPr wrap="square">
            <a:spAutoFit/>
          </a:bodyPr>
          <a:lstStyle/>
          <a:p>
            <a:pPr>
              <a:spcAft>
                <a:spcPts val="1000"/>
              </a:spcAft>
              <a:defRPr sz="1500">
                <a:solidFill>
                  <a:srgbClr val="FFFFFF"/>
                </a:solidFill>
                <a:latin typeface="Calibri"/>
              </a:defRPr>
            </a:pPr>
            <a:r>
              <a:t>▸  Successfully mapped all relational DBMS concepts to MongoDB (NoSQL)</a:t>
            </a:r>
          </a:p>
          <a:p>
            <a:pPr>
              <a:spcAft>
                <a:spcPts val="1000"/>
              </a:spcAft>
              <a:defRPr sz="1500">
                <a:solidFill>
                  <a:srgbClr val="FFFFFF"/>
                </a:solidFill>
                <a:latin typeface="Calibri"/>
              </a:defRPr>
            </a:pPr>
            <a:r>
              <a:t>▸  Implemented Triggers at the application level using Python service functions</a:t>
            </a:r>
          </a:p>
          <a:p>
            <a:pPr>
              <a:spcAft>
                <a:spcPts val="1000"/>
              </a:spcAft>
              <a:defRPr sz="1500">
                <a:solidFill>
                  <a:srgbClr val="FFFFFF"/>
                </a:solidFill>
                <a:latin typeface="Calibri"/>
              </a:defRPr>
            </a:pPr>
            <a:r>
              <a:t>▸  Created Stored Procedures that wrap validation + CRUD + trigger logic</a:t>
            </a:r>
          </a:p>
          <a:p>
            <a:pPr>
              <a:spcAft>
                <a:spcPts val="1000"/>
              </a:spcAft>
              <a:defRPr sz="1500">
                <a:solidFill>
                  <a:srgbClr val="FFFFFF"/>
                </a:solidFill>
                <a:latin typeface="Calibri"/>
              </a:defRPr>
            </a:pPr>
            <a:r>
              <a:t>▸  Built 12+ Aggregation Pipelines replacing SQL GROUP BY, JOIN, HAVING queries</a:t>
            </a:r>
          </a:p>
          <a:p>
            <a:pPr>
              <a:spcAft>
                <a:spcPts val="1000"/>
              </a:spcAft>
              <a:defRPr sz="1500">
                <a:solidFill>
                  <a:srgbClr val="FFFFFF"/>
                </a:solidFill>
                <a:latin typeface="Calibri"/>
              </a:defRPr>
            </a:pPr>
            <a:r>
              <a:t>▸  Enforced data integrity using JSON Schema Validators (NOT NULL, CHECK, ENUM, UNIQUE)</a:t>
            </a:r>
          </a:p>
          <a:p>
            <a:pPr>
              <a:spcAft>
                <a:spcPts val="1000"/>
              </a:spcAft>
              <a:defRPr sz="1500">
                <a:solidFill>
                  <a:srgbClr val="FFFFFF"/>
                </a:solidFill>
                <a:latin typeface="Calibri"/>
              </a:defRPr>
            </a:pPr>
            <a:r>
              <a:t>▸  Foreign Key constraints validated at the application level (validation_service.py)</a:t>
            </a:r>
          </a:p>
          <a:p>
            <a:pPr>
              <a:spcAft>
                <a:spcPts val="1000"/>
              </a:spcAft>
              <a:defRPr sz="1500">
                <a:solidFill>
                  <a:srgbClr val="FFFFFF"/>
                </a:solidFill>
                <a:latin typeface="Calibri"/>
              </a:defRPr>
            </a:pPr>
            <a:r>
              <a:t>▸  Full Streamlit dashboard with 7 interactive pages for real-time management</a:t>
            </a:r>
          </a:p>
          <a:p>
            <a:pPr>
              <a:spcAft>
                <a:spcPts val="1000"/>
              </a:spcAft>
              <a:defRPr sz="1500">
                <a:solidFill>
                  <a:srgbClr val="FFFFFF"/>
                </a:solidFill>
                <a:latin typeface="Calibri"/>
              </a:defRPr>
            </a:pPr>
            <a:r>
              <a:t>▸  Auto-alert system fires on critical / abnormal lab results and delayed orders</a:t>
            </a:r>
          </a:p>
        </p:txBody>
      </p:sp>
      <p:sp>
        <p:nvSpPr>
          <p:cNvPr id="5" name="Rounded Rectangle 4"/>
          <p:cNvSpPr/>
          <p:nvPr/>
        </p:nvSpPr>
        <p:spPr>
          <a:xfrm>
            <a:off x="731520" y="5029200"/>
            <a:ext cx="1828800" cy="1188720"/>
          </a:xfrm>
          <a:prstGeom prst="roundRect">
            <a:avLst/>
          </a:prstGeom>
          <a:solidFill>
            <a:srgbClr val="25253A"/>
          </a:solidFill>
          <a:ln w="19050">
            <a:solidFill>
              <a:srgbClr val="00C9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5120640"/>
            <a:ext cx="1645920" cy="548640"/>
          </a:xfrm>
          <a:prstGeom prst="rect">
            <a:avLst/>
          </a:prstGeom>
          <a:noFill/>
        </p:spPr>
        <p:txBody>
          <a:bodyPr wrap="square">
            <a:spAutoFit/>
          </a:bodyPr>
          <a:lstStyle/>
          <a:p>
            <a:pPr algn="ctr">
              <a:defRPr sz="3000" b="1">
                <a:solidFill>
                  <a:srgbClr val="00C9A7"/>
                </a:solidFill>
                <a:latin typeface="Calibri"/>
              </a:defRPr>
            </a:pPr>
            <a:r>
              <a:t>4</a:t>
            </a:r>
          </a:p>
        </p:txBody>
      </p:sp>
      <p:sp>
        <p:nvSpPr>
          <p:cNvPr id="7" name="TextBox 6"/>
          <p:cNvSpPr txBox="1"/>
          <p:nvPr/>
        </p:nvSpPr>
        <p:spPr>
          <a:xfrm>
            <a:off x="822960" y="5623560"/>
            <a:ext cx="1645920" cy="457200"/>
          </a:xfrm>
          <a:prstGeom prst="rect">
            <a:avLst/>
          </a:prstGeom>
          <a:noFill/>
        </p:spPr>
        <p:txBody>
          <a:bodyPr wrap="square">
            <a:spAutoFit/>
          </a:bodyPr>
          <a:lstStyle/>
          <a:p>
            <a:pPr algn="ctr">
              <a:defRPr sz="1300" b="0">
                <a:solidFill>
                  <a:srgbClr val="CCCCCC"/>
                </a:solidFill>
                <a:latin typeface="Calibri"/>
              </a:defRPr>
            </a:pPr>
            <a:r>
              <a:t>Collections</a:t>
            </a:r>
          </a:p>
        </p:txBody>
      </p:sp>
      <p:sp>
        <p:nvSpPr>
          <p:cNvPr id="8" name="Rounded Rectangle 7"/>
          <p:cNvSpPr/>
          <p:nvPr/>
        </p:nvSpPr>
        <p:spPr>
          <a:xfrm>
            <a:off x="2788920" y="5029200"/>
            <a:ext cx="1828800" cy="1188720"/>
          </a:xfrm>
          <a:prstGeom prst="roundRect">
            <a:avLst/>
          </a:prstGeom>
          <a:solidFill>
            <a:srgbClr val="25253A"/>
          </a:solidFill>
          <a:ln w="19050">
            <a:solidFill>
              <a:srgbClr val="00C9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880360" y="5120640"/>
            <a:ext cx="1645920" cy="548640"/>
          </a:xfrm>
          <a:prstGeom prst="rect">
            <a:avLst/>
          </a:prstGeom>
          <a:noFill/>
        </p:spPr>
        <p:txBody>
          <a:bodyPr wrap="square">
            <a:spAutoFit/>
          </a:bodyPr>
          <a:lstStyle/>
          <a:p>
            <a:pPr algn="ctr">
              <a:defRPr sz="3000" b="1">
                <a:solidFill>
                  <a:srgbClr val="00C9A7"/>
                </a:solidFill>
                <a:latin typeface="Calibri"/>
              </a:defRPr>
            </a:pPr>
            <a:r>
              <a:t>12+</a:t>
            </a:r>
          </a:p>
        </p:txBody>
      </p:sp>
      <p:sp>
        <p:nvSpPr>
          <p:cNvPr id="10" name="TextBox 9"/>
          <p:cNvSpPr txBox="1"/>
          <p:nvPr/>
        </p:nvSpPr>
        <p:spPr>
          <a:xfrm>
            <a:off x="2880360" y="5623560"/>
            <a:ext cx="1645920" cy="457200"/>
          </a:xfrm>
          <a:prstGeom prst="rect">
            <a:avLst/>
          </a:prstGeom>
          <a:noFill/>
        </p:spPr>
        <p:txBody>
          <a:bodyPr wrap="square">
            <a:spAutoFit/>
          </a:bodyPr>
          <a:lstStyle/>
          <a:p>
            <a:pPr algn="ctr">
              <a:defRPr sz="1300" b="0">
                <a:solidFill>
                  <a:srgbClr val="CCCCCC"/>
                </a:solidFill>
                <a:latin typeface="Calibri"/>
              </a:defRPr>
            </a:pPr>
            <a:r>
              <a:t>Aggregation</a:t>
            </a:r>
            <a:br/>
            <a:r>
              <a:t>Pipelines</a:t>
            </a:r>
          </a:p>
        </p:txBody>
      </p:sp>
      <p:sp>
        <p:nvSpPr>
          <p:cNvPr id="11" name="Rounded Rectangle 10"/>
          <p:cNvSpPr/>
          <p:nvPr/>
        </p:nvSpPr>
        <p:spPr>
          <a:xfrm>
            <a:off x="4846320" y="5029200"/>
            <a:ext cx="1828800" cy="1188720"/>
          </a:xfrm>
          <a:prstGeom prst="roundRect">
            <a:avLst/>
          </a:prstGeom>
          <a:solidFill>
            <a:srgbClr val="25253A"/>
          </a:solidFill>
          <a:ln w="19050">
            <a:solidFill>
              <a:srgbClr val="00C9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937760" y="5120640"/>
            <a:ext cx="1645920" cy="548640"/>
          </a:xfrm>
          <a:prstGeom prst="rect">
            <a:avLst/>
          </a:prstGeom>
          <a:noFill/>
        </p:spPr>
        <p:txBody>
          <a:bodyPr wrap="square">
            <a:spAutoFit/>
          </a:bodyPr>
          <a:lstStyle/>
          <a:p>
            <a:pPr algn="ctr">
              <a:defRPr sz="3000" b="1">
                <a:solidFill>
                  <a:srgbClr val="00C9A7"/>
                </a:solidFill>
                <a:latin typeface="Calibri"/>
              </a:defRPr>
            </a:pPr>
            <a:r>
              <a:t>4</a:t>
            </a:r>
          </a:p>
        </p:txBody>
      </p:sp>
      <p:sp>
        <p:nvSpPr>
          <p:cNvPr id="13" name="TextBox 12"/>
          <p:cNvSpPr txBox="1"/>
          <p:nvPr/>
        </p:nvSpPr>
        <p:spPr>
          <a:xfrm>
            <a:off x="4937760" y="5623560"/>
            <a:ext cx="1645920" cy="457200"/>
          </a:xfrm>
          <a:prstGeom prst="rect">
            <a:avLst/>
          </a:prstGeom>
          <a:noFill/>
        </p:spPr>
        <p:txBody>
          <a:bodyPr wrap="square">
            <a:spAutoFit/>
          </a:bodyPr>
          <a:lstStyle/>
          <a:p>
            <a:pPr algn="ctr">
              <a:defRPr sz="1300" b="0">
                <a:solidFill>
                  <a:srgbClr val="CCCCCC"/>
                </a:solidFill>
                <a:latin typeface="Calibri"/>
              </a:defRPr>
            </a:pPr>
            <a:r>
              <a:t>Triggers</a:t>
            </a:r>
          </a:p>
        </p:txBody>
      </p:sp>
      <p:sp>
        <p:nvSpPr>
          <p:cNvPr id="14" name="Rounded Rectangle 13"/>
          <p:cNvSpPr/>
          <p:nvPr/>
        </p:nvSpPr>
        <p:spPr>
          <a:xfrm>
            <a:off x="6903720" y="5029200"/>
            <a:ext cx="1828800" cy="1188720"/>
          </a:xfrm>
          <a:prstGeom prst="roundRect">
            <a:avLst/>
          </a:prstGeom>
          <a:solidFill>
            <a:srgbClr val="25253A"/>
          </a:solidFill>
          <a:ln w="19050">
            <a:solidFill>
              <a:srgbClr val="00C9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995160" y="5120640"/>
            <a:ext cx="1645920" cy="548640"/>
          </a:xfrm>
          <a:prstGeom prst="rect">
            <a:avLst/>
          </a:prstGeom>
          <a:noFill/>
        </p:spPr>
        <p:txBody>
          <a:bodyPr wrap="square">
            <a:spAutoFit/>
          </a:bodyPr>
          <a:lstStyle/>
          <a:p>
            <a:pPr algn="ctr">
              <a:defRPr sz="3000" b="1">
                <a:solidFill>
                  <a:srgbClr val="00C9A7"/>
                </a:solidFill>
                <a:latin typeface="Calibri"/>
              </a:defRPr>
            </a:pPr>
            <a:r>
              <a:t>3</a:t>
            </a:r>
          </a:p>
        </p:txBody>
      </p:sp>
      <p:sp>
        <p:nvSpPr>
          <p:cNvPr id="16" name="TextBox 15"/>
          <p:cNvSpPr txBox="1"/>
          <p:nvPr/>
        </p:nvSpPr>
        <p:spPr>
          <a:xfrm>
            <a:off x="6995160" y="5623560"/>
            <a:ext cx="1645920" cy="457200"/>
          </a:xfrm>
          <a:prstGeom prst="rect">
            <a:avLst/>
          </a:prstGeom>
          <a:noFill/>
        </p:spPr>
        <p:txBody>
          <a:bodyPr wrap="square">
            <a:spAutoFit/>
          </a:bodyPr>
          <a:lstStyle/>
          <a:p>
            <a:pPr algn="ctr">
              <a:defRPr sz="1300" b="0">
                <a:solidFill>
                  <a:srgbClr val="CCCCCC"/>
                </a:solidFill>
                <a:latin typeface="Calibri"/>
              </a:defRPr>
            </a:pPr>
            <a:r>
              <a:t>Stored</a:t>
            </a:r>
            <a:br/>
            <a:r>
              <a:t>Procedures</a:t>
            </a:r>
          </a:p>
        </p:txBody>
      </p:sp>
      <p:sp>
        <p:nvSpPr>
          <p:cNvPr id="17" name="TextBox 16"/>
          <p:cNvSpPr txBox="1"/>
          <p:nvPr/>
        </p:nvSpPr>
        <p:spPr>
          <a:xfrm>
            <a:off x="1371600" y="6400800"/>
            <a:ext cx="6400800" cy="365760"/>
          </a:xfrm>
          <a:prstGeom prst="rect">
            <a:avLst/>
          </a:prstGeom>
          <a:noFill/>
        </p:spPr>
        <p:txBody>
          <a:bodyPr wrap="square">
            <a:spAutoFit/>
          </a:bodyPr>
          <a:lstStyle/>
          <a:p>
            <a:pPr algn="ctr">
              <a:defRPr sz="2200" b="1">
                <a:solidFill>
                  <a:srgbClr val="FFFFFF"/>
                </a:solidFill>
                <a:latin typeface="Calibri"/>
              </a:defRPr>
            </a:pPr>
            <a:r>
              <a:t>Thank You!  🧪  Questions?</a:t>
            </a:r>
          </a:p>
        </p:txBody>
      </p:sp>
      <p:sp>
        <p:nvSpPr>
          <p:cNvPr id="18" name="TextBox 17"/>
          <p:cNvSpPr txBox="1"/>
          <p:nvPr/>
        </p:nvSpPr>
        <p:spPr>
          <a:xfrm>
            <a:off x="7772400" y="6400800"/>
            <a:ext cx="1097280" cy="365760"/>
          </a:xfrm>
          <a:prstGeom prst="rect">
            <a:avLst/>
          </a:prstGeom>
          <a:noFill/>
        </p:spPr>
        <p:txBody>
          <a:bodyPr wrap="square">
            <a:spAutoFit/>
          </a:bodyPr>
          <a:lstStyle/>
          <a:p>
            <a:pPr algn="r">
              <a:defRPr sz="1000" b="0">
                <a:solidFill>
                  <a:srgbClr val="CCCCCC"/>
                </a:solidFill>
                <a:latin typeface="Calibri"/>
              </a:defRPr>
            </a:pPr>
            <a:r>
              <a:t>10 / 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